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Module5 Session1: Speech Enhancement Basics + DeepFilterNet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999999"/>
                </a:solidFill>
                <a:latin typeface="Microsoft YaHei"/>
              </a:defRPr>
            </a:pPr>
            <a:r>
              <a:t>From Noisy to Clean: Understanding the SE Problem &amp; DeepFilterNet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Agenda (2.5 hours)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9144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0:00-0:20  SE Problem Definition: Recover clean speech from noisy input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0:20-0:45  SE Evaluation Metrics: PESQ, STOI, SI-SDR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0:45-1:10  Traditional SE Methods: Spectral Subtraction, Wiener Filter</a:t>
            </a:r>
          </a:p>
          <a:p>
            <a:pPr>
              <a:spcAft>
                <a:spcPts val="480"/>
              </a:spcAft>
              <a:defRPr sz="1600" b="0">
                <a:solidFill>
                  <a:srgbClr val="999999"/>
                </a:solidFill>
                <a:latin typeface="Microsoft YaHei"/>
              </a:defRPr>
            </a:pPr>
            <a:r>
              <a:t>1:10-1:20  Break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1:20-1:50  DeepFilterNet Paper: Architecture Design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1:50-2:20  DeepFilterNet Paper: Training &amp; Experiments</a:t>
            </a:r>
          </a:p>
          <a:p>
            <a:pPr>
              <a:spcAft>
                <a:spcPts val="480"/>
              </a:spcAft>
              <a:defRPr sz="1600" b="0">
                <a:solidFill>
                  <a:srgbClr val="333333"/>
                </a:solidFill>
                <a:latin typeface="Microsoft YaHei"/>
              </a:defRPr>
            </a:pPr>
            <a:r>
              <a:t>2:20-2:30  Discussion: DeepFilterNet and CI/Hearing Aids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1-2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SE Problem Definition &amp; Evaluation Metrics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Speech Enhancement Problem Definition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486400" cy="12801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Signal Model:  x(t) = s(t) + n(t)</a:t>
            </a:r>
          </a:p>
          <a:p>
            <a:pPr>
              <a:spcAft>
                <a:spcPts val="1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x(t) = noisy speech (observation)</a:t>
            </a:r>
          </a:p>
          <a:p>
            <a:pPr>
              <a:spcAft>
                <a:spcPts val="1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s(t) = clean speech (target)    n(t) = noise (interference)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6888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SE Goal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Estimate s(t) from x(t), minimizing |s_hat(t) - s(t)|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In CI Context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x(t) = CI microphone picks up noisy speech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s(t) = ideal clean speech CI user should receive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SE is frontend processing, ACE is backend encoding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468880"/>
            <a:ext cx="5029200" cy="3200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2468880"/>
            <a:ext cx="54864" cy="3200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2542032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Processing Pipeline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834640"/>
            <a:ext cx="4754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Noisy Audio -&gt; [SE Enhancement] -&gt; Enhanced Audio -&gt; [ACE Encoding] -&gt; Electrodes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Module 5 covers the SE enhancement step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Module 4 covered the ACE encoding step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Together they form a complete CI frontend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Hands-on: Generating Noisy Speech at Different SNRs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Generate clean speech (harmonics)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f0 = 150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clean = sum((0.5/h) * np.sin(2*np.pi*f0*h*t) for h in range(1, 10))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clean = clean / np.max(np.abs(clean)) * 0.8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Generate noise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noise = np.random.randn(len(t)) * 0.3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Mix at target SNR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def mix_at_snr(clean, noise, snr_db):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clean_power = np.mean(clean ** 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noise_power = np.mean(noise ** 2)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snr_linear = 10 ** (snr_db / 10)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noise_scaled = noise * np.sqrt(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    clean_power / (noise_power * snr_linear))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    return clean + noise_scaled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noisy_0db  = mix_at_snr(clean, noise, 0)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noisy_5db  = mix_at_snr(clean, noise, 5)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noisy_10db = mix_at_snr(clean, noise, 10)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SNR Explained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SNR = Signal-to-Noise Ratio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Higher SNR = less noise = easier to enhance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Lower SNR = more noise = harder to enhance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Typical CI environments: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Quiet room: SNR ~ 20-30 dB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Office: SNR ~ 5-15 dB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Restaurant: SNR ~ -5 to 5 dB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Street: SNR ~ 0-10 dB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Traditional SE Methods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Spectral Subtraction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|S_hat(f)|^2 = |X(f)|^2 - |N_hat(f)|^2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Simple: subtract noise spectrum from noisy spectrum</a:t>
            </a:r>
          </a:p>
          <a:p>
            <a:pPr>
              <a:spcAft>
                <a:spcPts val="390"/>
              </a:spcAft>
              <a:defRPr sz="1300" b="0">
                <a:solidFill>
                  <a:srgbClr val="C62828"/>
                </a:solidFill>
                <a:latin typeface="Microsoft YaHei"/>
              </a:defRPr>
            </a:pPr>
            <a:r>
              <a:t>Problem: creates 'musical noise' artifacts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Wiener Filter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H(f) = P_ss(f) / (P_ss(f) + P_nn(f))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Optimal linear filter minimizing MSE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Requires estimating speech and noise power spectra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C62828"/>
                </a:solidFill>
                <a:latin typeface="Microsoft YaHei"/>
              </a:defRPr>
            </a:pPr>
            <a:r>
              <a:t>Limitation of both methods: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Fixed rules based on statistical assumptions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Cannot adapt to complex, non-stationary noise</a:t>
            </a:r>
          </a:p>
          <a:p>
            <a:pPr>
              <a:spcAft>
                <a:spcPts val="420"/>
              </a:spcAft>
              <a:defRPr sz="1400" b="0">
                <a:solidFill>
                  <a:srgbClr val="2E7D32"/>
                </a:solidFill>
                <a:latin typeface="Microsoft YaHei"/>
              </a:defRPr>
            </a:pPr>
            <a:r>
              <a:t>-&gt; This motivates deep learning approaches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914400"/>
            <a:ext cx="5303520" cy="5029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355080" y="100584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Spectral Subtraction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noise_power = np.abs(noise_fft) ** 2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estimated = np.abs(noisy_fft)**2 - noise_power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estimated = np.maximum(estimated, 0)  # no negatives!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enhanced = np.sqrt(estimated) * np.exp(1j * np.angle(noisy_fft))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Wiener Filter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wiener_gain = clean_power / (clean_power + noise_power + 1e-8)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enhanced_wiener = wiener_gain * noisy_fft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# Both return to time domain via IFFT</a:t>
            </a:r>
          </a:p>
          <a:p>
            <a:pPr>
              <a:spcAft>
                <a:spcPts val="100"/>
              </a:spcAft>
              <a:defRPr sz="1200">
                <a:solidFill>
                  <a:srgbClr val="333333"/>
                </a:solidFill>
                <a:latin typeface="Consolas"/>
              </a:defRPr>
            </a:pPr>
            <a:r>
              <a:t>enhanced_signal = np.real(ifft(enhanced))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SE Evaluation Metrics: PESQ, STOI, SI-SDR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Three core objective metrics for speech enhancement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554480"/>
            <a:ext cx="11064240" cy="6400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1371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Metric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What it Measures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645920"/>
            <a:ext cx="1828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Range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164592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CI Relevance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21992"/>
            <a:ext cx="1106424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31343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PESQ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231343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Perceptual speech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77840" y="231343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-0.5 ~ 4.5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0" y="231343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CI user perceived quality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862072"/>
            <a:ext cx="1106424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295351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STOI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295351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Short-time intelligibility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77840" y="295351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0 ~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0" y="295351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Can CI user understand? CRITICAL!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02152"/>
            <a:ext cx="11064240" cy="64008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593592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SI-SDR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11680" y="3593592"/>
            <a:ext cx="3291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Signal distortion ratio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593592"/>
            <a:ext cx="1645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-inf ~ +inf dB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0" y="3593592"/>
            <a:ext cx="4389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Overall enhancement quality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4114800"/>
            <a:ext cx="54864" cy="22860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Key Insight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44805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CI users care most about INTELLIGIBILITY (STOI), not just quality (PESQ)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Speech enhancement must help CI users UNDERSTAND, not just sound good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Why improving SI-SDR alone may not improve STOI: SI-SDR measures signal-level distortion, ignores perceptual aspects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3017520"/>
            <a:ext cx="228600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01168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ACC"/>
                </a:solidFill>
                <a:latin typeface="Microsoft YaHei"/>
              </a:defRPr>
            </a:pPr>
            <a:r>
              <a:t>Section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DeepFilterNet Paper: Architecture &amp;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DeepFilterNet Paper Reading Guide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Four-Pass Reading Method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1: Title + Abstract (5min)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What is Deep Filtering? How does it differ from traditional filtering?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Why ERB domain instead of Mel?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2: Introduction (10min)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Limitations of traditional SE methods?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Why is DL better for SE?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3: Method (20min)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Why two stages (Enhancement + Deep Filtering)?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ERB domain vs STFT domain?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Deep Filtering formula?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09"/>
              </a:spcAft>
              <a:defRPr sz="1700" b="1">
                <a:solidFill>
                  <a:srgbClr val="333333"/>
                </a:solidFill>
                <a:latin typeface="Microsoft YaHei"/>
              </a:defRPr>
            </a:pPr>
            <a:r>
              <a:t>Pass 4: Experiments (10min)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Training data construction?</a:t>
            </a:r>
          </a:p>
          <a:p>
            <a:pPr>
              <a:spcAft>
                <a:spcPts val="420"/>
              </a:spcAft>
              <a:defRPr sz="1400" b="0">
                <a:solidFill>
                  <a:srgbClr val="999999"/>
                </a:solidFill>
                <a:latin typeface="Microsoft YaHei"/>
              </a:defRPr>
            </a:pPr>
            <a:r>
              <a:t>  Evaluation datasets and metrics?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0" y="914400"/>
            <a:ext cx="5486400" cy="50292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914400"/>
            <a:ext cx="54864" cy="5029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0" y="987552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Paper Structure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28016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Schrter et al. 'DeepFilterNet: A Low Complexity Speech Enhancement Framework for Real-Time On-Device Processing' arXiv 2023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Core Innovation: Two-stage design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Stage 1: Enhancement (ERB mask-based)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Stage 2: Deep Filtering (learned FIR filter)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Key Design Choices: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ERB domain (not Mel) -&gt; closer to auditory perception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GroupedGRU -&gt; reduces parameters while maintaining capacity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alpha parameter -&gt; controls DF stage contribution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  Real-time capable (~5ms latency)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DeepFilterNet Two-Stage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943600" cy="53035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005840"/>
            <a:ext cx="56692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Stage 1: Enhancement (mask-based)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Input: Noisy spectrogram (STFT)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+-- ERB feature extraction -&gt; 32 ERB bands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+-- Encoder (2D Conv) -&gt; GroupedGRU -&gt; ErbDecoder (U-Net)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Output: ERB domain mask [0, 1]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Apply: enhanced = spec * mask  (pre-enhancement)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Stage 2: Deep Filtering (learned FIR)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Input: Pre-enhanced spectrogram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+-- DF branch in Encoder -&gt; DfDecoder (GroupedGRU)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|   -&gt; DF coefficients (order x bins)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|   -&gt; alpha (mixing weight)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Operation on low-freq bins: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  Y[f] = sum_k C[k,f] * X[f-k]  (complex conv)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Mix: output = alpha * DF_result + (1-alpha) * mask_result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|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Output: Final enhanced spectrogram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Full pipeline:</a:t>
            </a:r>
          </a:p>
          <a:p>
            <a:pPr>
              <a:spcAft>
                <a:spcPts val="100"/>
              </a:spcAft>
              <a:defRPr sz="1100">
                <a:solidFill>
                  <a:srgbClr val="333333"/>
                </a:solidFill>
                <a:latin typeface="Consolas"/>
              </a:defRPr>
            </a:pPr>
            <a:r>
              <a:t>  Noisy WAV -&gt; STFT -&gt; Stage1 -&gt; Stage2 -&gt; iSTFT -&gt; Clean WAV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914400"/>
            <a:ext cx="50292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Why Two Stages?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Stage 1 (Enhancement)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Mask-based: simple, fast, good baseline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ERB domain: coarse frequency processing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1">
                <a:solidFill>
                  <a:srgbClr val="333333"/>
                </a:solidFill>
                <a:latin typeface="Microsoft YaHei"/>
              </a:defRPr>
            </a:pPr>
            <a:r>
              <a:t>Stage 2 (Deep Filtering)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Learned FIR filter for fine refinement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Only on low-frequency bins (where speech energy is)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alpha controls how much DF contributes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1">
                <a:solidFill>
                  <a:srgbClr val="E86C00"/>
                </a:solidFill>
                <a:latin typeface="Microsoft YaHei"/>
              </a:defRPr>
            </a:pPr>
            <a:r>
              <a:t>ERB vs Mel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Mel: based on pure tone perception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ERB: based on noise band perception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ERB is closer to actual auditory resolution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  CI electrode mapping follows ERB-like nonlinear mapping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DeepFilterNet vs Prior Knowledge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ACC"/>
                </a:solidFill>
                <a:latin typeface="Microsoft YaHei"/>
              </a:defRPr>
            </a:pPr>
            <a:r>
              <a:t>Each DeepFilterNet component has a counterpart in prior modules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63040"/>
            <a:ext cx="11247120" cy="59436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536192"/>
            <a:ext cx="29260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DFN Component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536192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Prior Knowledge (Module 2-4)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536192"/>
            <a:ext cx="4754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icrosoft YaHei"/>
              </a:defRPr>
            </a:pPr>
            <a:r>
              <a:t>Innovation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084832"/>
            <a:ext cx="112471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15798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ERB feature 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6160" y="215798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3 Mel spectrogram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215798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ERB scale: closer to auditory perception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679192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5234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Enhancement (mask)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275234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2 spectrogram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75234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Output mask instead of class labels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73552"/>
            <a:ext cx="112471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34670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Deep Filtering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66160" y="334670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Traditional FIR filter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34670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Network learns filter coefficients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867912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94106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GroupedGRU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394106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3 GRU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394106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Split GRU into groups, fewer parameters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462272"/>
            <a:ext cx="11247120" cy="5943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53542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U-Net decoder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66160" y="453542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Module 2 CNN + ResNet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53542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Skip connections for multi-scale features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56632"/>
            <a:ext cx="112471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5129784"/>
            <a:ext cx="2743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333333"/>
                </a:solidFill>
                <a:latin typeface="Microsoft YaHei"/>
              </a:defRPr>
            </a:pPr>
            <a:r>
              <a:t>alpha parameter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66160" y="5129784"/>
            <a:ext cx="31089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Microsoft YaHei"/>
              </a:defRPr>
            </a:pPr>
            <a:r>
              <a:t>--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129784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86C00"/>
                </a:solidFill>
                <a:latin typeface="Microsoft YaHei"/>
              </a:defRPr>
            </a:pPr>
            <a:r>
              <a:t>Adaptive mixing: model chooses when to use DF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ERB vs Mel Scale: Connection to CI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007ACC"/>
                </a:solidFill>
                <a:latin typeface="Microsoft YaHei"/>
              </a:defRPr>
            </a:pPr>
            <a:r>
              <a:t>Mel Scale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Based on pure tone perception experiments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Commonly used in ASR and sound classification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Standard in modules 2-3</a:t>
            </a:r>
          </a:p>
          <a:p>
            <a:pPr>
              <a:spcAft>
                <a:spcPts val="240"/>
              </a:spcAft>
              <a:defRPr sz="8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540"/>
              </a:spcAft>
              <a:defRPr sz="1800" b="1">
                <a:solidFill>
                  <a:srgbClr val="E86C00"/>
                </a:solidFill>
                <a:latin typeface="Microsoft YaHei"/>
              </a:defRPr>
            </a:pPr>
            <a:r>
              <a:t>ERB Scale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Based on noise band perception experiments</a:t>
            </a: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Closer to actual human auditory frequency resolution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DeepFilterNet's choice for 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91440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40"/>
              </a:spcAft>
              <a:defRPr sz="1800" b="1">
                <a:solidFill>
                  <a:srgbClr val="C62828"/>
                </a:solidFill>
                <a:latin typeface="Microsoft YaHei"/>
              </a:defRPr>
            </a:pPr>
            <a:r>
              <a:t>CI Connection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Modern CI: 22 electrodes ~ 22 ERB bands</a:t>
            </a:r>
          </a:p>
          <a:p>
            <a:pPr>
              <a:spcAft>
                <a:spcPts val="420"/>
              </a:spcAft>
              <a:defRPr sz="1400" b="0">
                <a:solidFill>
                  <a:srgbClr val="333333"/>
                </a:solidFill>
                <a:latin typeface="Microsoft YaHei"/>
              </a:defRPr>
            </a:pPr>
            <a:r>
              <a:t>CI electrode frequency allocation follows ERB-like nonlinear mapping</a:t>
            </a:r>
          </a:p>
          <a:p>
            <a:pPr>
              <a:spcAft>
                <a:spcPts val="120"/>
              </a:spcAft>
              <a:defRPr sz="4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50"/>
              </a:spcAft>
              <a:defRPr sz="1500" b="0">
                <a:solidFill>
                  <a:srgbClr val="333333"/>
                </a:solidFill>
                <a:latin typeface="Microsoft YaHei"/>
              </a:defRPr>
            </a:pPr>
            <a:r>
              <a:t>DeepFilterNet: 32 ERB bands (more refined, CI-compatible)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16 ERB bands ~ early CI processors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22 ERB bands ~ matches CI electrode count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32 ERB bands ~ DeepFilterNet default</a:t>
            </a:r>
          </a:p>
          <a:p>
            <a:pPr>
              <a:spcAft>
                <a:spcPts val="390"/>
              </a:spcAft>
              <a:defRPr sz="1300" b="0">
                <a:solidFill>
                  <a:srgbClr val="999999"/>
                </a:solidFill>
                <a:latin typeface="Microsoft YaHei"/>
              </a:defRPr>
            </a:pPr>
            <a:r>
              <a:t>  48 ERB bands ~ close to normal hearing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201168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54864" cy="201168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Why This Matters for CI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ERB scale has a MORE DIRECT relationship to CI than Mel scale. CI electrode frequency allocation inherently follows ERB-like nonlinear mapping. Understanding ERB helps connect SE research to CI applications.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Discussion Questions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4864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7043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Question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63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Traditional methods (spectral subtraction, Wiener) vs DL: pros and cons of each paradigm?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2194560"/>
            <a:ext cx="54864" cy="9144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2677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7ACC"/>
                </a:solidFill>
                <a:latin typeface="Microsoft YaHei"/>
              </a:defRPr>
            </a:pPr>
            <a:r>
              <a:t>Question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5603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Evaluating SE for CI users: PESQ or STOI? Why?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91840"/>
            <a:ext cx="1124712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3291840"/>
            <a:ext cx="54864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36499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Question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Why does Deep Filtering only operate on low frequencies? How does this relate to speech signal properties?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4389120"/>
            <a:ext cx="54864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46227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Question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If DeepFilterNet is placed before ACE (enhance-then-encode), how would it affect channel selection?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5486400"/>
            <a:ext cx="11247120" cy="914400"/>
          </a:xfrm>
          <a:prstGeom prst="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57200" y="5486400"/>
            <a:ext cx="54864" cy="91440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55595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62828"/>
                </a:solidFill>
                <a:latin typeface="Microsoft YaHei"/>
              </a:defRPr>
            </a:pPr>
            <a:r>
              <a:t>Question 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DeepFilterNet is designed for real-time (~5ms latency). Why is this critical for CI/hearing aids?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1B2A4A"/>
                </a:solidFill>
                <a:latin typeface="Microsoft YaHei"/>
              </a:defRPr>
            </a:pPr>
            <a:r>
              <a:t>Summary &amp; Homework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658368"/>
            <a:ext cx="1124712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2000" b="1">
                <a:solidFill>
                  <a:srgbClr val="007ACC"/>
                </a:solidFill>
                <a:latin typeface="Microsoft YaHei"/>
              </a:defRPr>
            </a:pPr>
            <a:r>
              <a:t>What we did today: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Understood SE signal model and problem definition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Implemented traditional methods and observed limitations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Deep-dived into PESQ, STOI, SI-SDR metrics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Read DeepFilterNet paper with structured methodology</a:t>
            </a:r>
          </a:p>
          <a:p>
            <a:pPr>
              <a:spcAft>
                <a:spcPts val="179"/>
              </a:spcAft>
              <a:defRPr sz="600" b="0">
                <a:solidFill>
                  <a:srgbClr val="333333"/>
                </a:solidFill>
                <a:latin typeface="Microsoft YaHei"/>
              </a:defRPr>
            </a:pPr>
          </a:p>
          <a:p>
            <a:pPr>
              <a:spcAft>
                <a:spcPts val="480"/>
              </a:spcAft>
              <a:defRPr sz="1600" b="0">
                <a:solidFill>
                  <a:srgbClr val="2E7D32"/>
                </a:solidFill>
                <a:latin typeface="Microsoft YaHei"/>
              </a:defRPr>
            </a:pPr>
            <a:r>
              <a:t>Connected ERB domain to CI electrode mapping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914400"/>
            <a:ext cx="5303520" cy="22860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914400"/>
            <a:ext cx="54864" cy="228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98755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Microsoft YaHei"/>
              </a:defRPr>
            </a:pPr>
            <a:r>
              <a:t>Homework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2801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Complete all questions in the paper reading guide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Draw DeepFilterNet complete data flow diagram</a:t>
            </a:r>
          </a:p>
          <a:p>
            <a:pPr>
              <a:spcAft>
                <a:spcPts val="359"/>
              </a:spcAft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Pre-read: DeepFilterNet/df/ code files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3474720"/>
            <a:ext cx="5303520" cy="1645920"/>
          </a:xfrm>
          <a:prstGeom prst="rect">
            <a:avLst/>
          </a:prstGeom>
          <a:solidFill>
            <a:srgbClr val="F3E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3474720"/>
            <a:ext cx="54864" cy="164592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35478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1FA2"/>
                </a:solidFill>
                <a:latin typeface="Microsoft YaHei"/>
              </a:defRPr>
            </a:pPr>
            <a:r>
              <a:t>Next Session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84048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Microsoft YaHei"/>
              </a:defRPr>
            </a:pPr>
            <a:r>
              <a:t>DeepFilterNet Code Analysis &amp; Running - from understanding paper to running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