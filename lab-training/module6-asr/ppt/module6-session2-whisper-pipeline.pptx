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Calibri"/>
              </a:defRPr>
            </a:pPr>
            <a:r>
              <a:t>Module 6 Session 2: ASR Hands-on &amp; End-to-End Pipeline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3200400"/>
            <a:ext cx="210312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Whisper  |  GET Vocoder  |  Full CI Pipeline Integration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Today's Agenda (2.5 Hours)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1097280"/>
            <a:ext cx="1005840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Review &amp; Q&amp;A from Session 1 (15 min)</a:t>
            </a:r>
          </a:p>
          <a:p>
            <a:pPr>
              <a:spcAft>
                <a:spcPts val="4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Whisper Hands-on: Install, Inference, API (30 min)</a:t>
            </a:r>
          </a:p>
          <a:p>
            <a:pPr>
              <a:spcAft>
                <a:spcPts val="4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Experiment: Clean vs. Noisy ASR Comparison (25 min)</a:t>
            </a:r>
          </a:p>
          <a:p>
            <a:pPr>
              <a:spcAft>
                <a:spcPts val="400"/>
              </a:spcAft>
              <a:defRPr sz="1800" b="0">
                <a:solidFill>
                  <a:srgbClr val="999999"/>
                </a:solidFill>
                <a:latin typeface="Calibri"/>
              </a:defRPr>
            </a:pPr>
            <a:r>
              <a:t>Break (10 min)</a:t>
            </a:r>
          </a:p>
          <a:p>
            <a:pPr>
              <a:spcAft>
                <a:spcPts val="400"/>
              </a:spcAft>
              <a:defRPr sz="2000" b="1">
                <a:solidFill>
                  <a:srgbClr val="333333"/>
                </a:solidFill>
                <a:latin typeface="Calibri"/>
              </a:defRPr>
            </a:pPr>
            <a:r>
              <a:t>GET Vocoder: From Electrodogram to Audio (30 min)</a:t>
            </a:r>
          </a:p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End-to-End Pipeline Demo (25 min)</a:t>
            </a:r>
          </a:p>
          <a:p>
            <a:pPr>
              <a:spcAft>
                <a:spcPts val="400"/>
              </a:spcAft>
              <a:defRPr sz="2000" b="1">
                <a:solidFill>
                  <a:srgbClr val="E86C00"/>
                </a:solidFill>
                <a:latin typeface="Calibri"/>
              </a:defRPr>
            </a:pPr>
            <a:r>
              <a:t>Course Summary &amp; Future Directions (15 min)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Whisper Hands-on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Installation, Inference, and API Usage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Whisper: 3 Steps to Transcribe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292608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2120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1: Load model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import whisper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model = whisper.load_model('small')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2: Transcribe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result = model.transcribe('audio.wav',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language='zh')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3: Get text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print(result['text'])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Key Parameters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language: 'zh' (Chinese), 'en' (English)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task: 'transcribe' or 'translate'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temperature: decoding randomness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beam_size: beam search width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verbose: print progress info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0" y="4114800"/>
            <a:ext cx="5303520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0" y="4114800"/>
            <a:ext cx="73152" cy="137160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73952" y="4114800"/>
            <a:ext cx="5230368" cy="1371600"/>
          </a:xfrm>
          <a:prstGeom prst="rect">
            <a:avLst/>
          </a:prstGeom>
          <a:solidFill>
            <a:srgbClr val="32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29400" y="4187952"/>
            <a:ext cx="4937759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Model sizes: tiny(39M) &lt; base(74M) &lt; small(244M)</a:t>
            </a:r>
            <a:br/>
            <a:r>
              <a:t>&lt; medium(769M) &lt; large(1550M)</a:t>
            </a:r>
            <a:br/>
            <a:r>
              <a:t>Larger = more accurate but slower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Whisper Output Structure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943600" cy="36576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6692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result = model.transcribe('audio.wav',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                language='zh')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Full text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result['text']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Segments with timestamps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for seg in result['segments']: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print(f"[{seg['start']:.1f}s - 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f"{seg['end']:.1f}s] 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      f"{seg['text']}")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Detected language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result['language']  # 'zh'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91440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Result Dictionary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text: full transcription string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segments: list of dict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- start, end: timestamps (seconds)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- text: segment text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- avg_logprob: confidence score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language: detected/specified language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846320"/>
            <a:ext cx="11247120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846320"/>
            <a:ext cx="73152" cy="109728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4846320"/>
            <a:ext cx="11173968" cy="1097280"/>
          </a:xfrm>
          <a:prstGeom prst="rect">
            <a:avLst/>
          </a:prstGeom>
          <a:solidFill>
            <a:srgbClr val="60AF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19472"/>
            <a:ext cx="10881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Tip: Use segments for detailed analysis. avg_logprob &lt; -1.0 often indicates poor recognition quality.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Experiment: Noise Impact on ASR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Quantifying How Noise Degrades Recognition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CER Calculation &amp; SNR Experiment Design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486400" cy="32004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005840"/>
            <a:ext cx="521208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def compute_cer(reference, hypothesis):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"""Character Error Rate"""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ref = list(reference.replace(' ', ''))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hyp = list(hypothesis.replace(' ', ''))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dist = levenshtein_distance(ref, hyp)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return dist / len(ref)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CER = (S + D + I) / 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S=substitutions, D=deletions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I=insertions, N=reference length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9144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Experiment: SNR vs. CER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Clean speech -&gt; ASR -&gt; CER (baseline)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10 dB SNR -&gt; ASR -&gt; CER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5 dB SNR -&gt; ASR -&gt; CER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0 dB SNR -&gt; ASR -&gt; CER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389120"/>
            <a:ext cx="11247120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4389120"/>
            <a:ext cx="73152" cy="91440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30352" y="4389120"/>
            <a:ext cx="11173968" cy="914400"/>
          </a:xfrm>
          <a:prstGeom prst="rect">
            <a:avLst/>
          </a:prstGeom>
          <a:solidFill>
            <a:srgbClr val="FF9E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462272"/>
            <a:ext cx="10881360" cy="7680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FFFFFF"/>
                </a:solidFill>
                <a:latin typeface="Calibri"/>
              </a:defRPr>
            </a:pPr>
            <a:r>
              <a:t>Hypothesis: CER increases as SNR decreases. Speech enhancement (Module 5) should reduce CER.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5029200"/>
            <a:ext cx="5303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E86C00"/>
                </a:solidFill>
                <a:latin typeface="Calibri"/>
              </a:defRPr>
            </a:pPr>
            <a:r>
              <a:t>Expected Result Pattern:</a:t>
            </a:r>
          </a:p>
          <a:p>
            <a:pPr>
              <a:spcAft>
                <a:spcPts val="400"/>
              </a:spcAft>
              <a:defRPr sz="1500" b="0">
                <a:solidFill>
                  <a:srgbClr val="C62828"/>
                </a:solidFill>
                <a:latin typeface="Calibri"/>
              </a:defRPr>
            </a:pPr>
            <a:r>
              <a:t>Clean CER ~ 5%, 10dB ~ 15%, 5dB ~ 30%, 0dB ~ 50%</a:t>
            </a:r>
          </a:p>
          <a:p>
            <a:pPr>
              <a:spcAft>
                <a:spcPts val="400"/>
              </a:spcAft>
              <a:defRPr sz="1500" b="0">
                <a:solidFill>
                  <a:srgbClr val="2E7D32"/>
                </a:solidFill>
                <a:latin typeface="Calibri"/>
              </a:defRPr>
            </a:pPr>
            <a:r>
              <a:t>After enhancement: each CER drops significantly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GET Vocoder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Bridging Electrodograms to Audio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GET Vocoder: Electrodogram -&gt; Audio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Why Do We Need a Vocoder?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ACE outputs an electrodogram (22-channel stimulation)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Electrodogram is NOT audio - cannot play or send to ASR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GET vocoder converts it back to audible signal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926080"/>
            <a:ext cx="5486400" cy="256032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94360" y="3017520"/>
            <a:ext cx="5212080" cy="2377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GET Vocoder Pipeline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1: Each electrode -&gt; sine carrier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        at corresponding frequency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2: Stimulation amplitude -&gt; modulate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        carrier envelope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3: Gaussian pulse summation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# Step 4: De-emphasis filtering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vocoded, bands = get_voc(q, p,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vocoder_carrier=1,  # 1=GET(sine)</a:t>
            </a:r>
          </a:p>
          <a:p>
            <a:pPr>
              <a:spcAft>
                <a:spcPts val="200"/>
              </a:spcAft>
              <a:defRPr sz="1400">
                <a:solidFill>
                  <a:srgbClr val="333333"/>
                </a:solidFill>
                <a:latin typeface="Consolas"/>
              </a:defRPr>
            </a:pPr>
            <a:r>
              <a:t>    get_fs=16000)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914400"/>
            <a:ext cx="53035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GET vs. GEN Carriers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GET (sine): clearer, more speech-like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GEN (noise): rougher, more noisy</a:t>
            </a:r>
          </a:p>
          <a:p>
            <a:pPr>
              <a:spcAft>
                <a:spcPts val="400"/>
              </a:spcAft>
              <a:defRPr sz="1600" b="0">
                <a:solidFill>
                  <a:srgbClr val="2E7D32"/>
                </a:solidFill>
                <a:latin typeface="Calibri"/>
              </a:defRPr>
            </a:pPr>
            <a:r>
              <a:t>GET is preferred in CI research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3017520"/>
            <a:ext cx="5303520" cy="13716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0" y="3017520"/>
            <a:ext cx="73152" cy="137160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473952" y="3017520"/>
            <a:ext cx="5230368" cy="1371600"/>
          </a:xfrm>
          <a:prstGeom prst="rect">
            <a:avLst/>
          </a:prstGeom>
          <a:solidFill>
            <a:srgbClr val="AD51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3090672"/>
            <a:ext cx="4937759" cy="12252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Vocoder simulation lets normal-hearing listeners experience CI-like perception. This is crucial for CI research with NH subjects.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0" y="4754880"/>
            <a:ext cx="530352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800" b="1">
                <a:solidFill>
                  <a:srgbClr val="C62828"/>
                </a:solidFill>
                <a:latin typeface="Calibri"/>
              </a:defRPr>
            </a:pPr>
            <a:r>
              <a:t>Information Loss Sources: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ACE encoding: 22 channels vs. full spectrum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Channel selection: Nmaxima=8/22 kept per frame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Vocoder: no original phase, frequency approximation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743200"/>
            <a:ext cx="12191695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FFFFF"/>
                </a:solidFill>
                <a:latin typeface="Calibri"/>
              </a:defRPr>
            </a:pPr>
            <a:r>
              <a:t>End-to-End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01752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Calibri"/>
              </a:defRPr>
            </a:pPr>
            <a:r>
              <a:t>Noisy -&gt; Enhance -&gt; ACE -&gt; Vocoder -&gt; ASR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Complete CI Processing Pipeline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274320" y="1828800"/>
            <a:ext cx="2011680" cy="1005840"/>
          </a:xfrm>
          <a:prstGeom prst="rect">
            <a:avLst/>
          </a:prstGeom>
          <a:solidFill>
            <a:srgbClr val="E86C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27432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Noisy</a:t>
            </a:r>
            <a:br/>
            <a:r>
              <a:t>Audio</a:t>
            </a:r>
          </a:p>
        </p:txBody>
      </p:sp>
      <p:sp>
        <p:nvSpPr>
          <p:cNvPr id="7" name="Rectangle 6"/>
          <p:cNvSpPr/>
          <p:nvPr/>
        </p:nvSpPr>
        <p:spPr>
          <a:xfrm>
            <a:off x="2560320" y="1828800"/>
            <a:ext cx="201168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56032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DeepFilterNet</a:t>
            </a:r>
            <a:br/>
            <a:r>
              <a:t>Enhancement</a:t>
            </a:r>
          </a:p>
        </p:txBody>
      </p:sp>
      <p:sp>
        <p:nvSpPr>
          <p:cNvPr id="9" name="Rectangle 8"/>
          <p:cNvSpPr/>
          <p:nvPr/>
        </p:nvSpPr>
        <p:spPr>
          <a:xfrm>
            <a:off x="4846320" y="1828800"/>
            <a:ext cx="2011680" cy="100584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84632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ACE</a:t>
            </a:r>
            <a:br/>
            <a:r>
              <a:t>Encoding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32320" y="1828800"/>
            <a:ext cx="2011680" cy="1005840"/>
          </a:xfrm>
          <a:prstGeom prst="rect">
            <a:avLst/>
          </a:prstGeom>
          <a:solidFill>
            <a:srgbClr val="2E7D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13232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GET Vocoder</a:t>
            </a:r>
            <a:br/>
            <a:r>
              <a:t>Reconstruction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418320" y="1828800"/>
            <a:ext cx="2011680" cy="1005840"/>
          </a:xfrm>
          <a:prstGeom prst="rect">
            <a:avLst/>
          </a:prstGeom>
          <a:solidFill>
            <a:srgbClr val="7B1FA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418320" y="1965960"/>
            <a:ext cx="20116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Calibri"/>
              </a:defRPr>
            </a:pPr>
            <a:r>
              <a:t>Whisper</a:t>
            </a:r>
            <a:br/>
            <a:r>
              <a:t>ASR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0" y="2103120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007ACC"/>
                </a:solidFill>
                <a:latin typeface="Calibri"/>
              </a:defRPr>
            </a:pPr>
            <a:r>
              <a:t>-&gt;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3200400"/>
            <a:ext cx="112471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Module Mapping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Noisy Audio -&gt; DeepFilterNet = Module 5 (two-stage SE, ERB domain, SI-SDR)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Enhanced Audio -&gt; ACE = Module 4 (channel selection, electrode mapping)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Electrodogram -&gt; GET Vocoder = Module 4 (sine carrier, Gaussian envelope)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Reconstructed Audio -&gt; Whisper = Module 6 (CTC/Attention, WER/CER)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7200" y="5943600"/>
            <a:ext cx="11247120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" y="5943600"/>
            <a:ext cx="73152" cy="640080"/>
          </a:xfrm>
          <a:prstGeom prst="rect">
            <a:avLst/>
          </a:prstGeom>
          <a:solidFill>
            <a:srgbClr val="C628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30352" y="5943600"/>
            <a:ext cx="11173968" cy="640080"/>
          </a:xfrm>
          <a:prstGeom prst="rect">
            <a:avLst/>
          </a:prstGeom>
          <a:solidFill>
            <a:srgbClr val="F85A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85800" y="6016752"/>
            <a:ext cx="10881360" cy="493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GET vocoder is the critical bridge - without it, ACE electrodograms cannot be evaluated by ASR.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Pipeline Configuration Comparison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914400"/>
            <a:ext cx="50292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96012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Configuration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0" y="914400"/>
            <a:ext cx="182880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577840" y="960120"/>
            <a:ext cx="16459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Expected CER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0" y="914400"/>
            <a:ext cx="4389120" cy="457200"/>
          </a:xfrm>
          <a:prstGeom prst="rect">
            <a:avLst/>
          </a:prstGeom>
          <a:solidFill>
            <a:srgbClr val="1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06640" y="9601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FFFF"/>
                </a:solidFill>
                <a:latin typeface="Calibri"/>
              </a:defRPr>
            </a:pPr>
            <a:r>
              <a:t>Analysis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15087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Noisy -&gt; ASR (baseline)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577840" y="15087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C62828"/>
                </a:solidFill>
                <a:latin typeface="Calibri"/>
              </a:defRPr>
            </a:pPr>
            <a:r>
              <a:t>~45%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06640" y="15087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Highest CER, no processing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57200" y="210312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Enhanced -&gt; ASR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577840" y="21945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~15%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21945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Enhancement greatly reduces CER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2788920"/>
            <a:ext cx="11247120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28803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Enhanced -&gt; ACE -&gt; Vocoder -&gt; ASR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577840" y="28803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6C00"/>
                </a:solidFill>
                <a:latin typeface="Calibri"/>
              </a:defRPr>
            </a:pPr>
            <a:r>
              <a:t>~35%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8803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CI pipeline adds vocoder loss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7200" y="3474720"/>
            <a:ext cx="11247120" cy="6400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48640" y="3566160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Clean -&gt; ASR (upper bound)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577840" y="3566160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2E7D32"/>
                </a:solidFill>
                <a:latin typeface="Calibri"/>
              </a:defRPr>
            </a:pPr>
            <a:r>
              <a:t>~5%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406640" y="356616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Best possible result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57200" y="4160520"/>
            <a:ext cx="11247120" cy="640080"/>
          </a:xfrm>
          <a:prstGeom prst="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548640" y="4251959"/>
            <a:ext cx="48463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333333"/>
                </a:solidFill>
                <a:latin typeface="Calibri"/>
              </a:defRPr>
            </a:pPr>
            <a:r>
              <a:t>Clean -&gt; ACE -&gt; Vocoder -&gt; ASR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577840" y="4251959"/>
            <a:ext cx="1645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E86C00"/>
                </a:solidFill>
                <a:latin typeface="Calibri"/>
              </a:defRPr>
            </a:pPr>
            <a:r>
              <a:t>~30%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06640" y="4251959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99999"/>
                </a:solidFill>
                <a:latin typeface="Calibri"/>
              </a:defRPr>
            </a:pPr>
            <a:r>
              <a:t>CI processing even on clean audio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57200" y="5029200"/>
            <a:ext cx="11247120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457200" y="5029200"/>
            <a:ext cx="73152" cy="1097280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30352" y="5029200"/>
            <a:ext cx="11173968" cy="1097280"/>
          </a:xfrm>
          <a:prstGeom prst="rect">
            <a:avLst/>
          </a:prstGeom>
          <a:solidFill>
            <a:srgbClr val="32AC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5800" y="5102352"/>
            <a:ext cx="10881360" cy="9509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  <a:latin typeface="Calibri"/>
              </a:defRPr>
            </a:pPr>
            <a:r>
              <a:t>Key finding: ACE+vocoder always degrades quality, but enhancement still helps. The gap between clean ASR and CI-processed ASR represents the CI degradation cost.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Course Knowledge Map: 7 Modules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Module Journey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0: Python Programming Fundamentals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1: Linux + Deep Learning Environment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2: Deep Learning Basics (NN, CNN, Training)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3: Audio Classification (Features, CRNN, CI)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4: DeepACE (Paper Reading, ACE, GET Vocoder)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0">
                <a:solidFill>
                  <a:srgbClr val="007ACC"/>
                </a:solidFill>
                <a:latin typeface="Calibri"/>
              </a:defRPr>
            </a:pPr>
            <a:r>
              <a:t>Mod 5: DeepFilterNet (SE, ERB, Evaluation)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|</a:t>
            </a:r>
          </a:p>
          <a:p>
            <a:pPr>
              <a:spcAft>
                <a:spcPts val="400"/>
              </a:spcAft>
              <a:defRPr sz="1700" b="1">
                <a:solidFill>
                  <a:srgbClr val="E86C00"/>
                </a:solidFill>
                <a:latin typeface="Calibri"/>
              </a:defRPr>
            </a:pPr>
            <a:r>
              <a:t>Mod 6: ASR + Pipeline Integration  &lt;-- You are here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1B2A4A"/>
                </a:solidFill>
                <a:latin typeface="Calibri"/>
              </a:defRPr>
            </a:pPr>
            <a:r>
              <a:t>Pipeline Stage -&gt; Module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Speech Enhancement -&gt; Module 5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Two-stage, ERB domain, SI-SDR metrics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CI Encoding -&gt; Module 4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Channel selection, electrode mapping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Voice Reconstruction -&gt; Module 4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Sine carrier, Gaussian envelope</a:t>
            </a:r>
          </a:p>
          <a:p>
            <a:pPr>
              <a:spcAft>
                <a:spcPts val="400"/>
              </a:spcAft>
              <a:defRPr sz="1600" b="0">
                <a:solidFill>
                  <a:srgbClr val="333333"/>
                </a:solidFill>
                <a:latin typeface="Calibri"/>
              </a:defRPr>
            </a:pPr>
            <a:r>
              <a:t>Speech Recognition -&gt; Module 6</a:t>
            </a:r>
          </a:p>
          <a:p>
            <a:pPr>
              <a:spcAft>
                <a:spcPts val="400"/>
              </a:spcAft>
              <a:defRPr sz="1400" b="0">
                <a:solidFill>
                  <a:srgbClr val="999999"/>
                </a:solidFill>
                <a:latin typeface="Calibri"/>
              </a:defRPr>
            </a:pPr>
            <a:r>
              <a:t>  CTC/Attention, WER/CER evaluation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54864"/>
            <a:ext cx="54864" cy="680313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37160"/>
            <a:ext cx="1124712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B2A4A"/>
                </a:solidFill>
                <a:latin typeface="Calibri"/>
              </a:defRPr>
            </a:pPr>
            <a:r>
              <a:t>Future Research Directions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007ACC"/>
                </a:solidFill>
                <a:latin typeface="Calibri"/>
              </a:defRPr>
            </a:pPr>
            <a:r>
              <a:t>Research Extensions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1. CI-specific speech enhancement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Optimize for electrode count, not Mel bands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2. Improved GET vocoder quality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More channels, better carrier signals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3. Model fine-tuning &amp; transfer learning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Adapt DFN/DeepACE to Chinese CI data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4. CI user subjective evaluation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ASR metrics != human perception</a:t>
            </a:r>
          </a:p>
          <a:p>
            <a:pPr>
              <a:spcAft>
                <a:spcPts val="400"/>
              </a:spcAft>
              <a:defRPr sz="1700" b="0">
                <a:solidFill>
                  <a:srgbClr val="333333"/>
                </a:solidFill>
                <a:latin typeface="Calibri"/>
              </a:defRPr>
            </a:pPr>
            <a:r>
              <a:t>5. Real-time deployment optimization</a:t>
            </a:r>
          </a:p>
          <a:p>
            <a:pPr>
              <a:spcAft>
                <a:spcPts val="400"/>
              </a:spcAft>
              <a:defRPr sz="1500" b="0">
                <a:solidFill>
                  <a:srgbClr val="999999"/>
                </a:solidFill>
                <a:latin typeface="Calibri"/>
              </a:defRPr>
            </a:pPr>
            <a:r>
              <a:t>  Latency &lt; 10ms for hearing aids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914400"/>
            <a:ext cx="53035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2000" b="1">
                <a:solidFill>
                  <a:srgbClr val="2E7D32"/>
                </a:solidFill>
                <a:latin typeface="Calibri"/>
              </a:defRPr>
            </a:pPr>
            <a:r>
              <a:t>Practical Next Steps</a:t>
            </a:r>
          </a:p>
          <a:p>
            <a:pPr>
              <a:spcAft>
                <a:spcPts val="400"/>
              </a:spcAft>
              <a:defRPr sz="6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E86C00"/>
                </a:solidFill>
                <a:latin typeface="Calibri"/>
              </a:defRPr>
            </a:pPr>
            <a:r>
              <a:t>Read more papers: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DeepFilterNet 2 (lightweight version)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CI front-end speech enhancement surveys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E86C00"/>
                </a:solidFill>
                <a:latin typeface="Calibri"/>
              </a:defRPr>
            </a:pPr>
            <a:r>
              <a:t>Hands-on projects: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Run full pipeline on real recordings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Modify DFN parameters for CI scenario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Compare NH vs. vocoder-listener evaluation</a:t>
            </a:r>
          </a:p>
          <a:p>
            <a:pPr>
              <a:spcAft>
                <a:spcPts val="400"/>
              </a:spcAft>
              <a:defRPr sz="800" b="0">
                <a:solidFill>
                  <a:srgbClr val="333333"/>
                </a:solidFill>
                <a:latin typeface="Calibri"/>
              </a:defRPr>
            </a:pPr>
          </a:p>
          <a:p>
            <a:pPr>
              <a:spcAft>
                <a:spcPts val="400"/>
              </a:spcAft>
              <a:defRPr sz="1700" b="1">
                <a:solidFill>
                  <a:srgbClr val="E86C00"/>
                </a:solidFill>
                <a:latin typeface="Calibri"/>
              </a:defRPr>
            </a:pPr>
            <a:r>
              <a:t>Collaboration: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Work with CI clinicians for user studies</a:t>
            </a:r>
          </a:p>
          <a:p>
            <a:pPr>
              <a:spcAft>
                <a:spcPts val="400"/>
              </a:spcAft>
              <a:defRPr sz="1500" b="0">
                <a:solidFill>
                  <a:srgbClr val="333333"/>
                </a:solidFill>
                <a:latin typeface="Calibri"/>
              </a:defRPr>
            </a:pPr>
            <a:r>
              <a:t>  Connect with signal processing community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Congratulations!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0" y="2834640"/>
            <a:ext cx="2103120" cy="36576"/>
          </a:xfrm>
          <a:prstGeom prst="rect">
            <a:avLst/>
          </a:prstGeom>
          <a:solidFill>
            <a:srgbClr val="007A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310896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99999"/>
                </a:solidFill>
                <a:latin typeface="Calibri"/>
              </a:defRPr>
            </a:pPr>
            <a:r>
              <a:t>You have completed the full CI Research Lab Training Course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206240"/>
            <a:ext cx="10332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007ACC"/>
                </a:solidFill>
                <a:latin typeface="Calibri"/>
              </a:defRPr>
            </a:pPr>
            <a:r>
              <a:t>From Python basics to end-to-end CI speech processing pipeline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5120640"/>
            <a:ext cx="85039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700" b="1">
                <a:solidFill>
                  <a:srgbClr val="FFFFFF"/>
                </a:solidFill>
                <a:latin typeface="Calibri"/>
              </a:defRPr>
            </a:pPr>
            <a:r>
              <a:t>Noisy Audio -&gt; DeepFilterNet -&gt; ACE -&gt; GET Vocoder -&gt; Whisper -&gt; Text</a:t>
            </a:r>
          </a:p>
          <a:p>
            <a:pPr>
              <a:spcAft>
                <a:spcPts val="400"/>
              </a:spcAft>
              <a:defRPr sz="1400" b="0">
                <a:solidFill>
                  <a:srgbClr val="007ACC"/>
                </a:solidFill>
                <a:latin typeface="Calibri"/>
              </a:defRPr>
            </a:pPr>
            <a:r>
              <a:t>Module 5           Module 4              Module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