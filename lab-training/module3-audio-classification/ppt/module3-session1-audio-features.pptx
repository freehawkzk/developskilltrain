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011680"/>
            <a:ext cx="2743200" cy="508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88AADD"/>
                </a:solidFill>
                <a:latin typeface="Microsoft YaHei"/>
              </a:defRPr>
            </a:pPr>
            <a:r>
              <a:t>模块3 · 第1次课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0175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Microsoft YaHei"/>
              </a:defRPr>
            </a:pPr>
            <a:r>
              <a:t>音频特征工程与经典方法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7548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8899BB"/>
                </a:solidFill>
                <a:latin typeface="Microsoft YaHei"/>
              </a:defRPr>
            </a:pPr>
            <a:r>
              <a:t>CI/助听器实验室 · 开发技能培训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3035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7799"/>
                </a:solidFill>
                <a:latin typeface="Microsoft YaHei"/>
              </a:defRPr>
            </a:pPr>
            <a:r>
              <a:t>时长 2.5h  |  编程能力：能修改 → 能组合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54864" cy="13716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2A4A"/>
                </a:solidFill>
                <a:latin typeface="Microsoft YaHei"/>
              </a:defRPr>
            </a:pPr>
            <a:r>
              <a:t>学习目标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10515600" cy="1905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000" b="0">
                <a:solidFill>
                  <a:srgbClr val="333333"/>
                </a:solidFill>
                <a:latin typeface="Microsoft YaHei"/>
              </a:defRPr>
            </a:pPr>
            <a:r>
              <a:t>• 理解音频特征的完整转换流程（波形→频谱→语谱图→MFCC）</a:t>
            </a:r>
          </a:p>
          <a:p>
            <a:pPr algn="l">
              <a:spcAft>
                <a:spcPts val="600"/>
              </a:spcAft>
              <a:defRPr sz="2000" b="0">
                <a:solidFill>
                  <a:srgbClr val="333333"/>
                </a:solidFill>
                <a:latin typeface="Microsoft YaHei"/>
              </a:defRPr>
            </a:pPr>
            <a:r>
              <a:t>• 理解梅尔刻度与CI电极映射的关系</a:t>
            </a:r>
          </a:p>
          <a:p>
            <a:pPr algn="l">
              <a:spcAft>
                <a:spcPts val="600"/>
              </a:spcAft>
              <a:defRPr sz="2000" b="0">
                <a:solidFill>
                  <a:srgbClr val="333333"/>
                </a:solidFill>
                <a:latin typeface="Microsoft YaHei"/>
              </a:defRPr>
            </a:pPr>
            <a:r>
              <a:t>• 对比不同特征表示：MFCC vs 梅尔语谱图 vs 原始波形</a:t>
            </a:r>
          </a:p>
          <a:p>
            <a:pPr algn="l">
              <a:spcAft>
                <a:spcPts val="600"/>
              </a:spcAft>
              <a:defRPr sz="2000" b="0">
                <a:solidFill>
                  <a:srgbClr val="333333"/>
                </a:solidFill>
                <a:latin typeface="Microsoft YaHei"/>
              </a:defRPr>
            </a:pPr>
            <a:r>
              <a:t>• 用torchaudio进行音频加载、变换和特征提取</a:t>
            </a:r>
          </a:p>
          <a:p>
            <a:pPr algn="l">
              <a:spcAft>
                <a:spcPts val="600"/>
              </a:spcAft>
              <a:defRPr sz="2000" b="0">
                <a:solidFill>
                  <a:srgbClr val="333333"/>
                </a:solidFill>
                <a:latin typeface="Microsoft YaHei"/>
              </a:defRPr>
            </a:pPr>
            <a:r>
              <a:t>• 对ESC-50数据集提取梅尔语谱图特征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2743200"/>
            <a:ext cx="1828800" cy="508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30175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§1 音频特征全景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1148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AABBDD"/>
                </a:solidFill>
                <a:latin typeface="Microsoft YaHei"/>
              </a:defRPr>
            </a:pPr>
            <a:r>
              <a:t>从波形到MFCC的完整链路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54864" cy="13716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2A4A"/>
                </a:solidFill>
                <a:latin typeface="Microsoft YaHei"/>
              </a:defRPr>
            </a:pPr>
            <a:r>
              <a:t>音频特征提取链路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10515600" cy="1905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10515600" cy="13716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46304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60"/>
              </a:spcAft>
              <a:defRPr sz="2200" b="1">
                <a:solidFill>
                  <a:srgbClr val="007ACC"/>
                </a:solidFill>
                <a:latin typeface="Microsoft YaHei"/>
              </a:defRPr>
            </a:pPr>
            <a:r>
              <a:t>原始波形 → 预加重 → 分帧加窗 → FFT → 梅尔滤波 → 对数 → DCT → MFCC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017520"/>
            <a:ext cx="10515600" cy="5029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0632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7ACC"/>
                </a:solidFill>
                <a:latin typeface="Microsoft YaHei"/>
              </a:defRPr>
            </a:pPr>
            <a:r>
              <a:t>预加重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30632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onsolas"/>
              </a:defRPr>
            </a:pPr>
            <a:r>
              <a:t>y[n] = x[n] - 0.97·x[n-1]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30632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Microsoft YaHei"/>
              </a:defRPr>
            </a:pPr>
            <a:r>
              <a:t>提升高频成分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3611880"/>
            <a:ext cx="105156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6576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7ACC"/>
                </a:solidFill>
                <a:latin typeface="Microsoft YaHei"/>
              </a:defRPr>
            </a:pPr>
            <a:r>
              <a:t>分帧加窗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3657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onsolas"/>
              </a:defRPr>
            </a:pPr>
            <a:r>
              <a:t>帧长25ms，帧移10ms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36576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Microsoft YaHei"/>
              </a:defRPr>
            </a:pPr>
            <a:r>
              <a:t>短时平稳假设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4206240"/>
            <a:ext cx="10515600" cy="5029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2519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7ACC"/>
                </a:solidFill>
                <a:latin typeface="Microsoft YaHei"/>
              </a:defRPr>
            </a:pPr>
            <a:r>
              <a:t>FFT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0" y="42519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onsolas"/>
              </a:defRPr>
            </a:pPr>
            <a:r>
              <a:t>N点快速傅里叶变换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42519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Microsoft YaHei"/>
              </a:defRPr>
            </a:pPr>
            <a:r>
              <a:t>时域→频域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4800600"/>
            <a:ext cx="105156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8463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7ACC"/>
                </a:solidFill>
                <a:latin typeface="Microsoft YaHei"/>
              </a:defRPr>
            </a:pPr>
            <a:r>
              <a:t>梅尔滤波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0" y="48463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onsolas"/>
              </a:defRPr>
            </a:pPr>
            <a:r>
              <a:t>三角滤波器组（通常40/64个）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0" y="48463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Microsoft YaHei"/>
              </a:defRPr>
            </a:pPr>
            <a:r>
              <a:t>模拟人耳感知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5394960"/>
            <a:ext cx="10515600" cy="5029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54406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7ACC"/>
                </a:solidFill>
                <a:latin typeface="Microsoft YaHei"/>
              </a:defRPr>
            </a:pPr>
            <a:r>
              <a:t>取对数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0" y="54406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onsolas"/>
              </a:defRPr>
            </a:pPr>
            <a:r>
              <a:t>log(filterbank_energy)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20" y="54406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Microsoft YaHei"/>
              </a:defRPr>
            </a:pPr>
            <a:r>
              <a:t>压缩动态范围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" y="5989320"/>
            <a:ext cx="105156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60350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7ACC"/>
                </a:solidFill>
                <a:latin typeface="Microsoft YaHei"/>
              </a:defRPr>
            </a:pPr>
            <a:r>
              <a:t>DCT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0" y="6035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onsolas"/>
              </a:defRPr>
            </a:pPr>
            <a:r>
              <a:t>离散余弦变换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20" y="60350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Microsoft YaHei"/>
              </a:defRPr>
            </a:pPr>
            <a:r>
              <a:t>去相关→MFCC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54864" cy="13716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2A4A"/>
                </a:solidFill>
                <a:latin typeface="Microsoft YaHei"/>
              </a:defRPr>
            </a:pPr>
            <a:r>
              <a:t>为什么是梅尔刻度？——从CI电极映射讲起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10515600" cy="1905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18872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40"/>
              </a:spcAft>
              <a:defRPr sz="1800" b="0">
                <a:solidFill>
                  <a:srgbClr val="333333"/>
                </a:solidFill>
                <a:latin typeface="Microsoft YaHei"/>
              </a:defRPr>
            </a:pPr>
            <a:r>
              <a:t>人耳对频率的感知不是线性的：</a:t>
            </a:r>
          </a:p>
          <a:p>
            <a:pPr algn="l">
              <a:spcAft>
                <a:spcPts val="540"/>
              </a:spcAft>
              <a:defRPr sz="1800" b="0">
                <a:solidFill>
                  <a:srgbClr val="333333"/>
                </a:solidFill>
                <a:latin typeface="Microsoft YaHei"/>
              </a:defRPr>
            </a:pPr>
            <a:r>
              <a:t>  100Hz → 200Hz 感觉差别很大</a:t>
            </a:r>
          </a:p>
          <a:p>
            <a:pPr algn="l">
              <a:spcAft>
                <a:spcPts val="540"/>
              </a:spcAft>
              <a:defRPr sz="1800" b="0">
                <a:solidFill>
                  <a:srgbClr val="333333"/>
                </a:solidFill>
                <a:latin typeface="Microsoft YaHei"/>
              </a:defRPr>
            </a:pPr>
            <a:r>
              <a:t>  1000Hz → 1100Hz 感觉差别很小</a:t>
            </a:r>
          </a:p>
          <a:p>
            <a:pPr algn="l">
              <a:spcAft>
                <a:spcPts val="540"/>
              </a:spcAft>
              <a:defRPr sz="1800" b="0">
                <a:solidFill>
                  <a:srgbClr val="333333"/>
                </a:solidFill>
                <a:latin typeface="Microsoft YaHei"/>
              </a:defRPr>
            </a:pPr>
          </a:p>
          <a:p>
            <a:pPr algn="l">
              <a:spcAft>
                <a:spcPts val="540"/>
              </a:spcAft>
              <a:defRPr sz="1800" b="0">
                <a:solidFill>
                  <a:srgbClr val="333333"/>
                </a:solidFill>
                <a:latin typeface="Microsoft YaHei"/>
              </a:defRPr>
            </a:pPr>
            <a:r>
              <a:t>梅尔刻度模拟了这种非线性感知</a:t>
            </a:r>
          </a:p>
          <a:p>
            <a:pPr algn="l">
              <a:spcAft>
                <a:spcPts val="540"/>
              </a:spcAft>
              <a:defRPr sz="1800" b="0">
                <a:solidFill>
                  <a:srgbClr val="333333"/>
                </a:solidFill>
                <a:latin typeface="Microsoft YaHei"/>
              </a:defRPr>
            </a:pPr>
            <a:r>
              <a:t>低频：高分辨率（更多滤波器）</a:t>
            </a:r>
          </a:p>
          <a:p>
            <a:pPr algn="l">
              <a:spcAft>
                <a:spcPts val="540"/>
              </a:spcAft>
              <a:defRPr sz="1800" b="0">
                <a:solidFill>
                  <a:srgbClr val="333333"/>
                </a:solidFill>
                <a:latin typeface="Microsoft YaHei"/>
              </a:defRPr>
            </a:pPr>
            <a:r>
              <a:t>高频：低分辨率（更少滤波器）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6675120" y="1371600"/>
            <a:ext cx="4754880" cy="3200400"/>
          </a:xfrm>
          <a:prstGeom prst="rect">
            <a:avLst/>
          </a:prstGeom>
          <a:solidFill>
            <a:srgbClr val="FDF2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49440" y="1554480"/>
            <a:ext cx="43891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600" b="1">
                <a:solidFill>
                  <a:srgbClr val="333333"/>
                </a:solidFill>
                <a:latin typeface="Microsoft YaHei"/>
              </a:defRPr>
            </a:pPr>
            <a:r>
              <a:t>💡 和CI电极映射的对应</a:t>
            </a:r>
          </a:p>
          <a:p>
            <a:pPr algn="l">
              <a:spcAft>
                <a:spcPts val="480"/>
              </a:spcAft>
              <a:defRPr sz="1600" b="1">
                <a:solidFill>
                  <a:srgbClr val="333333"/>
                </a:solidFill>
                <a:latin typeface="Microsoft YaHei"/>
              </a:defRPr>
            </a:pPr>
          </a:p>
          <a:p>
            <a:pPr algn="l">
              <a:spcAft>
                <a:spcPts val="480"/>
              </a:spcAft>
              <a:defRPr sz="1600" b="1">
                <a:solidFill>
                  <a:srgbClr val="333333"/>
                </a:solidFill>
                <a:latin typeface="Microsoft YaHei"/>
              </a:defRPr>
            </a:pPr>
            <a:r>
              <a:t>CI将声音分成N个通道（如22个）</a:t>
            </a:r>
          </a:p>
          <a:p>
            <a:pPr algn="l">
              <a:spcAft>
                <a:spcPts val="480"/>
              </a:spcAft>
              <a:defRPr sz="1600" b="1">
                <a:solidFill>
                  <a:srgbClr val="333333"/>
                </a:solidFill>
                <a:latin typeface="Microsoft YaHei"/>
              </a:defRPr>
            </a:pPr>
            <a:r>
              <a:t>通道分配：低频更多电极</a:t>
            </a:r>
          </a:p>
          <a:p>
            <a:pPr algn="l">
              <a:spcAft>
                <a:spcPts val="480"/>
              </a:spcAft>
              <a:defRPr sz="1600" b="1">
                <a:solidFill>
                  <a:srgbClr val="333333"/>
                </a:solidFill>
                <a:latin typeface="Microsoft YaHei"/>
              </a:defRPr>
            </a:pPr>
          </a:p>
          <a:p>
            <a:pPr algn="l">
              <a:spcAft>
                <a:spcPts val="480"/>
              </a:spcAft>
              <a:defRPr sz="1600" b="1">
                <a:solidFill>
                  <a:srgbClr val="333333"/>
                </a:solidFill>
                <a:latin typeface="Microsoft YaHei"/>
              </a:defRPr>
            </a:pPr>
            <a:r>
              <a:t>梅尔滤波器：低频更多滤波器</a:t>
            </a:r>
          </a:p>
          <a:p>
            <a:pPr algn="l">
              <a:spcAft>
                <a:spcPts val="480"/>
              </a:spcAft>
              <a:defRPr sz="1600" b="1">
                <a:solidFill>
                  <a:srgbClr val="333333"/>
                </a:solidFill>
                <a:latin typeface="Microsoft YaHei"/>
              </a:defRPr>
            </a:pPr>
          </a:p>
          <a:p>
            <a:pPr algn="l">
              <a:spcAft>
                <a:spcPts val="480"/>
              </a:spcAft>
              <a:defRPr sz="1600" b="1">
                <a:solidFill>
                  <a:srgbClr val="333333"/>
                </a:solidFill>
                <a:latin typeface="Microsoft YaHei"/>
              </a:defRPr>
            </a:pPr>
            <a:r>
              <a:t>本质相同：</a:t>
            </a:r>
          </a:p>
          <a:p>
            <a:pPr algn="l">
              <a:spcAft>
                <a:spcPts val="480"/>
              </a:spcAft>
              <a:defRPr sz="1600" b="1">
                <a:solidFill>
                  <a:srgbClr val="333333"/>
                </a:solidFill>
                <a:latin typeface="Microsoft YaHei"/>
              </a:defRPr>
            </a:pPr>
            <a:r>
              <a:t>都是模拟人耳/听神经的频率感知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4114800"/>
            <a:ext cx="10515600" cy="228600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251960"/>
            <a:ext cx="101498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# torchaudio 提取梅尔语谱图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import torchaudio.transforms as T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mel_transform = T.MelSpectrogram(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    sample_rate=16000, n_fft=512, hop_length=256, n_mels=64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)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amplitude_to_db = T.AmplitudeToDB()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waveform, sr = torchaudio.load('audio.wav')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mel_spec = mel_transform(waveform)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log_mel_spec = amplitude_to_db(mel_spec)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print(f'波形: {waveform.shape} → 梅尔语谱图: {log_mel_spec.shape}')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54864" cy="13716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2A4A"/>
                </a:solidFill>
                <a:latin typeface="Microsoft YaHei"/>
              </a:defRPr>
            </a:pPr>
            <a:r>
              <a:t>特征对比：MFCC vs 梅尔语谱图 vs 原始波形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10515600" cy="1905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280160"/>
            <a:ext cx="1920240" cy="50292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307592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特征</a:t>
            </a:r>
          </a:p>
        </p:txBody>
      </p:sp>
      <p:sp>
        <p:nvSpPr>
          <p:cNvPr id="8" name="Rectangle 7"/>
          <p:cNvSpPr/>
          <p:nvPr/>
        </p:nvSpPr>
        <p:spPr>
          <a:xfrm>
            <a:off x="2834640" y="1280160"/>
            <a:ext cx="1920240" cy="50292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1307592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形状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37760" y="1280160"/>
            <a:ext cx="1920240" cy="50292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37760" y="1307592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优点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040879" y="1280160"/>
            <a:ext cx="1920240" cy="50292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40879" y="1307592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缺点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0" y="1280160"/>
            <a:ext cx="1920240" cy="50292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0" y="1307592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适用场景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1874519"/>
            <a:ext cx="1920240" cy="5029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1920239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原始波形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834640" y="1874519"/>
            <a:ext cx="1920240" cy="5029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34640" y="1920239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3333"/>
                </a:solidFill>
                <a:latin typeface="Consolas"/>
              </a:defRPr>
            </a:pPr>
            <a:r>
              <a:t>[1, samples]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937760" y="1874519"/>
            <a:ext cx="1920240" cy="5029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37760" y="1920239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保留全部信息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040879" y="1874519"/>
            <a:ext cx="1920240" cy="5029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40879" y="1920239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维度高，冗余多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44000" y="1874519"/>
            <a:ext cx="1920240" cy="5029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0" y="1920239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简单基线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" y="2468879"/>
            <a:ext cx="192024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2514599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梅尔语谱图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834640" y="2468879"/>
            <a:ext cx="192024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834640" y="2514599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3333"/>
                </a:solidFill>
                <a:latin typeface="Consolas"/>
              </a:defRPr>
            </a:pPr>
            <a:r>
              <a:t>[1, n_mels, time]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937760" y="2468879"/>
            <a:ext cx="192024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937760" y="2514599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模拟人耳感知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040879" y="2468879"/>
            <a:ext cx="192024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040879" y="2514599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音频DL最常用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144000" y="2468879"/>
            <a:ext cx="192024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0" y="2514599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推荐使用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3063239"/>
            <a:ext cx="1920240" cy="5029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1520" y="3108959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MFCC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834640" y="3063239"/>
            <a:ext cx="1920240" cy="5029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834640" y="3108959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3333"/>
                </a:solidFill>
                <a:latin typeface="Consolas"/>
              </a:defRPr>
            </a:pPr>
            <a:r>
              <a:t>[1, n_mfcc, time]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937760" y="3063239"/>
            <a:ext cx="1920240" cy="5029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937760" y="3108959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去相关后的特征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040879" y="3063239"/>
            <a:ext cx="1920240" cy="5029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040879" y="3108959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传统ASR常用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144000" y="3063239"/>
            <a:ext cx="1920240" cy="5029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144000" y="3108959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经典方法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31520" y="3840480"/>
            <a:ext cx="10515600" cy="256032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14400" y="3977640"/>
            <a:ext cx="101498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# ESC-50 数据集特征提取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import torchaudio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import os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data_dir = 'data/ESC-50/audio/'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mel_transform = T.MelSpectrogram(sample_rate=44100, n_mels=64)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to_db = T.AmplitudeToDB()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features, labels = [], []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for fname in os.listdir(data_dir):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    if fname.endswith('.wav'):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        waveform, sr = torchaudio.load(os.path.join(data_dir, fname))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        mel = to_db(mel_transform(waveform))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        features.append(mel)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        # ESC-50 filename format: {fold}-{src}-{take}-{target}.wav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        label = int(fname.split('-')[-1].replace('.wav', ''))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        labels.append(label)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print(f'提取了 {len(features)} 个样本的特征')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54864" cy="13716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2A4A"/>
                </a:solidFill>
                <a:latin typeface="Microsoft YaHei"/>
              </a:defRPr>
            </a:pPr>
            <a:r>
              <a:t>本节要点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10515600" cy="1905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2560320" cy="64008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1. 特征链路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0" y="14630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333333"/>
                </a:solidFill>
                <a:latin typeface="Microsoft YaHei"/>
              </a:defRPr>
            </a:pPr>
            <a:r>
              <a:t>波形→预加重→分帧加窗→FFT→梅尔滤波→对数→MFCC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286000"/>
            <a:ext cx="2560320" cy="64008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3774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2. 梅尔刻度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23774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333333"/>
                </a:solidFill>
                <a:latin typeface="Microsoft YaHei"/>
              </a:defRPr>
            </a:pPr>
            <a:r>
              <a:t>模拟人耳非线性感知，低频高分辨率，和CI电极映射对应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3200400"/>
            <a:ext cx="2560320" cy="64008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2918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3. torchaudio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32918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333333"/>
                </a:solidFill>
                <a:latin typeface="Microsoft YaHei"/>
              </a:defRPr>
            </a:pPr>
            <a:r>
              <a:t>MelSpectrogram + AmplitudeToDB 一行提取特征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4114800"/>
            <a:ext cx="2560320" cy="64008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2062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4. 特征选择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42062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333333"/>
                </a:solidFill>
                <a:latin typeface="Microsoft YaHei"/>
              </a:defRPr>
            </a:pPr>
            <a:r>
              <a:t>梅尔语谱图是音频DL最常用的特征表示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5029200"/>
            <a:ext cx="2560320" cy="64008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51206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5. ESC-50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4720" y="51206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333333"/>
                </a:solidFill>
                <a:latin typeface="Microsoft YaHei"/>
              </a:defRPr>
            </a:pPr>
            <a:r>
              <a:t>环境声分类标准数据集，用于特征对比实验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54864" cy="13716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2A4A"/>
                </a:solidFill>
                <a:latin typeface="Microsoft YaHei"/>
              </a:defRPr>
            </a:pPr>
            <a:r>
              <a:t>课后练习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10515600" cy="1905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0058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40"/>
              </a:spcAft>
              <a:defRPr sz="1800" b="0">
                <a:solidFill>
                  <a:srgbClr val="333333"/>
                </a:solidFill>
                <a:latin typeface="Microsoft YaHei"/>
              </a:defRPr>
            </a:pPr>
            <a:r>
              <a:t>基础（必做）：</a:t>
            </a:r>
          </a:p>
          <a:p>
            <a:pPr algn="l">
              <a:spcAft>
                <a:spcPts val="540"/>
              </a:spcAft>
              <a:defRPr sz="1800" b="0">
                <a:solidFill>
                  <a:srgbClr val="333333"/>
                </a:solidFill>
                <a:latin typeface="Microsoft YaHei"/>
              </a:defRPr>
            </a:pPr>
          </a:p>
          <a:p>
            <a:pPr algn="l">
              <a:spcAft>
                <a:spcPts val="540"/>
              </a:spcAft>
              <a:defRPr sz="1800" b="0">
                <a:solidFill>
                  <a:srgbClr val="333333"/>
                </a:solidFill>
                <a:latin typeface="Microsoft YaHei"/>
              </a:defRPr>
            </a:pPr>
            <a:r>
              <a:t>1. 对ESC-50提取梅尔语谱图特征</a:t>
            </a:r>
          </a:p>
          <a:p>
            <a:pPr algn="l">
              <a:spcAft>
                <a:spcPts val="540"/>
              </a:spcAft>
              <a:defRPr sz="1800" b="0">
                <a:solidFill>
                  <a:srgbClr val="333333"/>
                </a:solidFill>
                <a:latin typeface="Microsoft YaHei"/>
              </a:defRPr>
            </a:pPr>
            <a:r>
              <a:t>2. 可视化不同类别（如狗叫、雨声、敲门）的语谱图差异</a:t>
            </a:r>
          </a:p>
          <a:p>
            <a:pPr algn="l">
              <a:spcAft>
                <a:spcPts val="540"/>
              </a:spcAft>
              <a:defRPr sz="1800" b="0">
                <a:solidFill>
                  <a:srgbClr val="333333"/>
                </a:solidFill>
                <a:latin typeface="Microsoft YaHei"/>
              </a:defRPr>
            </a:pPr>
            <a:r>
              <a:t>3. 统计不同特征维度下的数据形状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5029200"/>
            <a:ext cx="10515600" cy="914400"/>
          </a:xfrm>
          <a:prstGeom prst="rect">
            <a:avLst/>
          </a:prstGeom>
          <a:solidFill>
            <a:srgbClr val="F3E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5120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40"/>
              </a:spcAft>
              <a:defRPr sz="1800" b="1">
                <a:solidFill>
                  <a:srgbClr val="333333"/>
                </a:solidFill>
                <a:latin typeface="Microsoft YaHei"/>
              </a:defRPr>
            </a:pPr>
            <a:r>
              <a:t>📌 下次课预告：CRNN音频分类器 — Dataset/DataLoader、CNN+GRU、混淆矩阵、F1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Microsoft YaHei"/>
              </a:defRPr>
            </a:pPr>
            <a:r>
              <a:t>谢谢！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AABBDD"/>
                </a:solidFill>
                <a:latin typeface="Microsoft YaHei"/>
              </a:defRPr>
            </a:pPr>
            <a:r>
              <a:t>课后完成ESC-50特征提取，下次课搭建CRNN分类器。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