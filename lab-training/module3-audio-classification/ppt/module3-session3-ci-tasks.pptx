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011680"/>
            <a:ext cx="2743200" cy="508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88AADD"/>
                </a:solidFill>
                <a:latin typeface="Microsoft YaHei"/>
              </a:defRPr>
            </a:pPr>
            <a:r>
              <a:t>模块3 · 第3次课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01752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Microsoft YaHei"/>
              </a:defRPr>
            </a:pPr>
            <a:r>
              <a:t>CI相关音频分类实战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7548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8899BB"/>
                </a:solidFill>
                <a:latin typeface="Microsoft YaHei"/>
              </a:defRPr>
            </a:pPr>
            <a:r>
              <a:t>CI/助听器实验室 · 开发技能培训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3035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67799"/>
                </a:solidFill>
                <a:latin typeface="Microsoft YaHei"/>
              </a:defRPr>
            </a:pPr>
            <a:r>
              <a:t>时长 2.5h  |  编程能力：能组合 → 能构建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54864" cy="13716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2A4A"/>
                </a:solidFill>
                <a:latin typeface="Microsoft YaHei"/>
              </a:defRPr>
            </a:pPr>
            <a:r>
              <a:t>学习目标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0120"/>
            <a:ext cx="10515600" cy="1905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000" b="0">
                <a:solidFill>
                  <a:srgbClr val="333333"/>
                </a:solidFill>
                <a:latin typeface="Microsoft YaHei"/>
              </a:defRPr>
            </a:pPr>
            <a:r>
              <a:t>• 理解CI相关音频任务：VAD、可懂度分类、环境声分类</a:t>
            </a:r>
          </a:p>
          <a:p>
            <a:pPr algn="l">
              <a:spcAft>
                <a:spcPts val="600"/>
              </a:spcAft>
              <a:defRPr sz="2000" b="0">
                <a:solidFill>
                  <a:srgbClr val="333333"/>
                </a:solidFill>
                <a:latin typeface="Microsoft YaHei"/>
              </a:defRPr>
            </a:pPr>
            <a:r>
              <a:t>• 实战：训练VAD（语音活动检测）模型</a:t>
            </a:r>
          </a:p>
          <a:p>
            <a:pPr algn="l">
              <a:spcAft>
                <a:spcPts val="600"/>
              </a:spcAft>
              <a:defRPr sz="2000" b="0">
                <a:solidFill>
                  <a:srgbClr val="333333"/>
                </a:solidFill>
                <a:latin typeface="Microsoft YaHei"/>
              </a:defRPr>
            </a:pPr>
            <a:r>
              <a:t>• 实战：训练带噪语音可懂度分类模型</a:t>
            </a:r>
          </a:p>
          <a:p>
            <a:pPr algn="l">
              <a:spcAft>
                <a:spcPts val="600"/>
              </a:spcAft>
              <a:defRPr sz="2000" b="0">
                <a:solidFill>
                  <a:srgbClr val="333333"/>
                </a:solidFill>
                <a:latin typeface="Microsoft YaHei"/>
              </a:defRPr>
            </a:pPr>
            <a:r>
              <a:t>• 掌握模型调优技巧：LR搜索、混合精度、梯度累积、早停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0" y="2743200"/>
            <a:ext cx="1828800" cy="508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301752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t>§1 CI相关音频任务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1148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AABBDD"/>
                </a:solidFill>
                <a:latin typeface="Microsoft YaHei"/>
              </a:defRPr>
            </a:pPr>
            <a:r>
              <a:t>VAD、可懂度分类、环境声分类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54864" cy="13716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2A4A"/>
                </a:solidFill>
                <a:latin typeface="Microsoft YaHei"/>
              </a:defRPr>
            </a:pPr>
            <a:r>
              <a:t>CI相关音频任务一览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0120"/>
            <a:ext cx="10515600" cy="1905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280160"/>
            <a:ext cx="2286000" cy="96012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VAD</a:t>
            </a:r>
            <a:br/>
            <a:r>
              <a:t>语音活动检测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3258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输入: 音频帧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17830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输出: 语音/非语音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03520" y="1280160"/>
            <a:ext cx="5943600" cy="96012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0" y="146304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07ACC"/>
                </a:solidFill>
                <a:latin typeface="Microsoft YaHei"/>
              </a:defRPr>
            </a:pPr>
            <a:r>
              <a:t>与CI的关系: ACE选通道的前提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2468880"/>
            <a:ext cx="2286000" cy="96012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5603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可懂度分类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25146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输入: 带噪语音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2971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输出: 可懂/不可懂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03520" y="2468880"/>
            <a:ext cx="5943600" cy="96012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0" y="265176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07ACC"/>
                </a:solidFill>
                <a:latin typeface="Microsoft YaHei"/>
              </a:defRPr>
            </a:pPr>
            <a:r>
              <a:t>与CI的关系: 评价增强/编码策略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3657600"/>
            <a:ext cx="2286000" cy="96012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7490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环境声分类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37033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输入: 音频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0" y="41605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输出: 环境类型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303520" y="3657600"/>
            <a:ext cx="5943600" cy="96012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0" y="384048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07ACC"/>
                </a:solidFill>
                <a:latin typeface="Microsoft YaHei"/>
              </a:defRPr>
            </a:pPr>
            <a:r>
              <a:t>与CI的关系: 帮CI用户感知环境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" y="4846320"/>
            <a:ext cx="2286000" cy="96012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通道选择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00400" y="48920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输入: 音频特征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00400" y="53492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输出: 刺激/不刺激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303520" y="4846320"/>
            <a:ext cx="5943600" cy="96012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0" y="502920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07ACC"/>
                </a:solidFill>
                <a:latin typeface="Microsoft YaHei"/>
              </a:defRPr>
            </a:pPr>
            <a:r>
              <a:t>与CI的关系: 替代ACE固定规则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54864" cy="13716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2A4A"/>
                </a:solidFill>
                <a:latin typeface="Microsoft YaHei"/>
              </a:defRPr>
            </a:pPr>
            <a:r>
              <a:t>VAD与ACE策略的连接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0120"/>
            <a:ext cx="10515600" cy="1905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188720"/>
            <a:ext cx="5486400" cy="320040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25880"/>
            <a:ext cx="51206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  <a:r>
              <a:t># VAD在CI中的位置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  <a:r>
              <a:t># 输入音频 → VAD → 有语音？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  <a:r>
              <a:t>#                 ├── 是 → ACE选通道 → 电刺激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  <a:r>
              <a:t>#                 └── 否 → 不刺激（省电）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  <a:r>
              <a:t># 传统VAD：能量阈值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  <a:r>
              <a:t>def energy_vad(audio, threshold=0.01):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  <a:r>
              <a:t>    energy = np.mean(audio ** 2)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  <a:r>
              <a:t>    return energy &gt; threshold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  <a:r>
              <a:t># 问题：噪声环境中容易误判！</a:t>
            </a:r>
          </a:p>
        </p:txBody>
      </p:sp>
      <p:sp>
        <p:nvSpPr>
          <p:cNvPr id="8" name="Rectangle 7"/>
          <p:cNvSpPr/>
          <p:nvPr/>
        </p:nvSpPr>
        <p:spPr>
          <a:xfrm>
            <a:off x="6675120" y="1371600"/>
            <a:ext cx="4754880" cy="3200400"/>
          </a:xfrm>
          <a:prstGeom prst="rect">
            <a:avLst/>
          </a:prstGeom>
          <a:solidFill>
            <a:srgbClr val="FDF2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0" y="1554480"/>
            <a:ext cx="43891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50"/>
              </a:spcAft>
              <a:defRPr sz="1500" b="1">
                <a:solidFill>
                  <a:srgbClr val="333333"/>
                </a:solidFill>
                <a:latin typeface="Microsoft YaHei"/>
              </a:defRPr>
            </a:pPr>
            <a:r>
              <a:t>💡 为什么需要DL的VAD？</a:t>
            </a:r>
          </a:p>
          <a:p>
            <a:pPr algn="l">
              <a:spcAft>
                <a:spcPts val="450"/>
              </a:spcAft>
              <a:defRPr sz="1500" b="1">
                <a:solidFill>
                  <a:srgbClr val="333333"/>
                </a:solidFill>
                <a:latin typeface="Microsoft YaHei"/>
              </a:defRPr>
            </a:pPr>
          </a:p>
          <a:p>
            <a:pPr algn="l">
              <a:spcAft>
                <a:spcPts val="450"/>
              </a:spcAft>
              <a:defRPr sz="1500" b="1">
                <a:solidFill>
                  <a:srgbClr val="333333"/>
                </a:solidFill>
                <a:latin typeface="Microsoft YaHei"/>
              </a:defRPr>
            </a:pPr>
            <a:r>
              <a:t>传统：能量阈值</a:t>
            </a:r>
          </a:p>
          <a:p>
            <a:pPr algn="l">
              <a:spcAft>
                <a:spcPts val="450"/>
              </a:spcAft>
              <a:defRPr sz="1500" b="1">
                <a:solidFill>
                  <a:srgbClr val="333333"/>
                </a:solidFill>
                <a:latin typeface="Microsoft YaHei"/>
              </a:defRPr>
            </a:pPr>
            <a:r>
              <a:t>  安静环境OK</a:t>
            </a:r>
          </a:p>
          <a:p>
            <a:pPr algn="l">
              <a:spcAft>
                <a:spcPts val="450"/>
              </a:spcAft>
              <a:defRPr sz="1500" b="1">
                <a:solidFill>
                  <a:srgbClr val="333333"/>
                </a:solidFill>
                <a:latin typeface="Microsoft YaHei"/>
              </a:defRPr>
            </a:pPr>
            <a:r>
              <a:t>  噪声环境误判（噪声能量也高）</a:t>
            </a:r>
          </a:p>
          <a:p>
            <a:pPr algn="l">
              <a:spcAft>
                <a:spcPts val="450"/>
              </a:spcAft>
              <a:defRPr sz="1500" b="1">
                <a:solidFill>
                  <a:srgbClr val="333333"/>
                </a:solidFill>
                <a:latin typeface="Microsoft YaHei"/>
              </a:defRPr>
            </a:pPr>
          </a:p>
          <a:p>
            <a:pPr algn="l">
              <a:spcAft>
                <a:spcPts val="450"/>
              </a:spcAft>
              <a:defRPr sz="1500" b="1">
                <a:solidFill>
                  <a:srgbClr val="333333"/>
                </a:solidFill>
                <a:latin typeface="Microsoft YaHei"/>
              </a:defRPr>
            </a:pPr>
            <a:r>
              <a:t>DL方法：学习更鲁棒的特征</a:t>
            </a:r>
          </a:p>
          <a:p>
            <a:pPr algn="l">
              <a:spcAft>
                <a:spcPts val="450"/>
              </a:spcAft>
              <a:defRPr sz="1500" b="1">
                <a:solidFill>
                  <a:srgbClr val="333333"/>
                </a:solidFill>
                <a:latin typeface="Microsoft YaHei"/>
              </a:defRPr>
            </a:pPr>
            <a:r>
              <a:t>  语音的时频模式和噪声不同</a:t>
            </a:r>
          </a:p>
          <a:p>
            <a:pPr algn="l">
              <a:spcAft>
                <a:spcPts val="450"/>
              </a:spcAft>
              <a:defRPr sz="1500" b="1">
                <a:solidFill>
                  <a:srgbClr val="333333"/>
                </a:solidFill>
                <a:latin typeface="Microsoft YaHei"/>
              </a:defRPr>
            </a:pPr>
            <a:r>
              <a:t>  CNN/CRNN可以学到这些模式</a:t>
            </a:r>
          </a:p>
          <a:p>
            <a:pPr algn="l">
              <a:spcAft>
                <a:spcPts val="450"/>
              </a:spcAft>
              <a:defRPr sz="1500" b="1">
                <a:solidFill>
                  <a:srgbClr val="333333"/>
                </a:solidFill>
                <a:latin typeface="Microsoft YaHei"/>
              </a:defRPr>
            </a:pPr>
            <a:r>
              <a:t>  噪声中也能准确判断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0" y="2743200"/>
            <a:ext cx="1828800" cy="508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301752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t>§2 实战：VAD模型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1148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AABBDD"/>
                </a:solidFill>
                <a:latin typeface="Microsoft YaHei"/>
              </a:defRPr>
            </a:pPr>
            <a:r>
              <a:t>语音活动检测——从数据到训练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54864" cy="13716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2A4A"/>
                </a:solidFill>
                <a:latin typeface="Microsoft YaHei"/>
              </a:defRPr>
            </a:pPr>
            <a:r>
              <a:t>VAD模型训练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0120"/>
            <a:ext cx="10515600" cy="1905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188720"/>
            <a:ext cx="5486400" cy="502920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25880"/>
            <a:ext cx="51206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# VAD数据准备</a:t>
            </a:r>
          </a:p>
          <a:p>
            <a:pPr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# 语音片段 → 标签1（有语音）</a:t>
            </a:r>
          </a:p>
          <a:p>
            <a:pPr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# 噪声片段 → 标签0（无语音）</a:t>
            </a:r>
          </a:p>
          <a:p>
            <a:pPr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# 用CRNN作为VAD模型（和上节课一样！）</a:t>
            </a:r>
          </a:p>
          <a:p>
            <a:pPr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vad_model = CRNN(num_classes=2)  # 语音/非语音</a:t>
            </a:r>
          </a:p>
          <a:p>
            <a:pPr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# 训练（和之前完全一样）</a:t>
            </a:r>
          </a:p>
          <a:p>
            <a:pPr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for epoch in range(30):</a:t>
            </a:r>
          </a:p>
          <a:p>
            <a:pPr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    for mel, label in train_loader:</a:t>
            </a:r>
          </a:p>
          <a:p>
            <a:pPr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        pred = vad_model(mel)</a:t>
            </a:r>
          </a:p>
          <a:p>
            <a:pPr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        loss = criterion(pred, label)</a:t>
            </a:r>
          </a:p>
          <a:p>
            <a:pPr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        optimizer.zero_grad()</a:t>
            </a:r>
          </a:p>
          <a:p>
            <a:pPr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        loss.backward()</a:t>
            </a:r>
          </a:p>
          <a:p>
            <a:pPr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        optimizer.step()</a:t>
            </a:r>
          </a:p>
          <a:p>
            <a:pPr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    </a:t>
            </a:r>
          </a:p>
          <a:p>
            <a:pPr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    # 评估：重点关注Recall</a:t>
            </a:r>
          </a:p>
          <a:p>
            <a:pPr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    # Recall高 = 尽量不漏检语音</a:t>
            </a:r>
          </a:p>
          <a:p>
            <a:pPr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    val_acc = evaluate(vad_model, val_loader)</a:t>
            </a:r>
          </a:p>
          <a:p>
            <a:pPr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    print(f'Epoch {epoch}: Acc={val_acc:.2f}')</a:t>
            </a:r>
          </a:p>
          <a:p>
            <a:pPr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# 目标：测试集准确率 &gt; 90%</a:t>
            </a:r>
          </a:p>
        </p:txBody>
      </p:sp>
      <p:sp>
        <p:nvSpPr>
          <p:cNvPr id="8" name="Rectangle 7"/>
          <p:cNvSpPr/>
          <p:nvPr/>
        </p:nvSpPr>
        <p:spPr>
          <a:xfrm>
            <a:off x="6675120" y="1371600"/>
            <a:ext cx="4754880" cy="27432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0" y="1554480"/>
            <a:ext cx="4389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600" b="1">
                <a:solidFill>
                  <a:srgbClr val="333333"/>
                </a:solidFill>
                <a:latin typeface="Microsoft YaHei"/>
              </a:defRPr>
            </a:pPr>
            <a:r>
              <a:t>✅ VAD模型要点</a:t>
            </a:r>
          </a:p>
          <a:p>
            <a:pPr algn="l">
              <a:spcAft>
                <a:spcPts val="480"/>
              </a:spcAft>
              <a:defRPr sz="1600" b="1">
                <a:solidFill>
                  <a:srgbClr val="333333"/>
                </a:solidFill>
                <a:latin typeface="Microsoft YaHei"/>
              </a:defRPr>
            </a:pPr>
          </a:p>
          <a:p>
            <a:pPr algn="l">
              <a:spcAft>
                <a:spcPts val="480"/>
              </a:spcAft>
              <a:defRPr sz="1600" b="1">
                <a:solidFill>
                  <a:srgbClr val="333333"/>
                </a:solidFill>
                <a:latin typeface="Microsoft YaHei"/>
              </a:defRPr>
            </a:pPr>
            <a:r>
              <a:t>模型：CRNN（复用上节课）</a:t>
            </a:r>
          </a:p>
          <a:p>
            <a:pPr algn="l">
              <a:spcAft>
                <a:spcPts val="480"/>
              </a:spcAft>
              <a:defRPr sz="1600" b="1">
                <a:solidFill>
                  <a:srgbClr val="333333"/>
                </a:solidFill>
                <a:latin typeface="Microsoft YaHei"/>
              </a:defRPr>
            </a:pPr>
            <a:r>
              <a:t>数据：语音 vs 噪声的二分类</a:t>
            </a:r>
          </a:p>
          <a:p>
            <a:pPr algn="l">
              <a:spcAft>
                <a:spcPts val="480"/>
              </a:spcAft>
              <a:defRPr sz="1600" b="1">
                <a:solidFill>
                  <a:srgbClr val="333333"/>
                </a:solidFill>
                <a:latin typeface="Microsoft YaHei"/>
              </a:defRPr>
            </a:pPr>
            <a:r>
              <a:t>指标：关注Recall（不漏检语音）</a:t>
            </a:r>
          </a:p>
          <a:p>
            <a:pPr algn="l">
              <a:spcAft>
                <a:spcPts val="480"/>
              </a:spcAft>
              <a:defRPr sz="1600" b="1">
                <a:solidFill>
                  <a:srgbClr val="333333"/>
                </a:solidFill>
                <a:latin typeface="Microsoft YaHei"/>
              </a:defRPr>
            </a:pPr>
            <a:r>
              <a:t>目标：测试集 &gt; 90%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0" y="2743200"/>
            <a:ext cx="1828800" cy="508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301752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t>§3 模型调优技巧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1148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AABBDD"/>
                </a:solidFill>
                <a:latin typeface="Microsoft YaHei"/>
              </a:defRPr>
            </a:pPr>
            <a:r>
              <a:t>LR搜索、混合精度、梯度累积、早停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54864" cy="13716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2A4A"/>
                </a:solidFill>
                <a:latin typeface="Microsoft YaHei"/>
              </a:defRPr>
            </a:pPr>
            <a:r>
              <a:t>进阶调优技巧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0120"/>
            <a:ext cx="10515600" cy="1905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188720"/>
            <a:ext cx="1828800" cy="54864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26187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LR Range Test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12344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从1e-6逐渐增大到1，观察loss变化，找最佳lr范围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560320"/>
            <a:ext cx="1828800" cy="54864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63347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混合精度(FP16)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26060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减少GPU内存，加速约2倍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3931920"/>
            <a:ext cx="1828800" cy="5486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00507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梯度累积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0" y="39776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小batch多次累积梯度，等效大batch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5303520"/>
            <a:ext cx="1828800" cy="5486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537667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早停(Early Stopping)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0" y="53492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验证集loss不再下降时停止训练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54864" cy="13716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2A4A"/>
                </a:solidFill>
                <a:latin typeface="Microsoft YaHei"/>
              </a:defRPr>
            </a:pPr>
            <a:r>
              <a:t>本节要点 + 模块3总结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0120"/>
            <a:ext cx="10515600" cy="1905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188720"/>
            <a:ext cx="2560320" cy="64008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1. CI音频任务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0" y="12801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333333"/>
                </a:solidFill>
                <a:latin typeface="Microsoft YaHei"/>
              </a:defRPr>
            </a:pPr>
            <a:r>
              <a:t>VAD（语音检测）、可懂度分类、环境声分类、通道选择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148840"/>
            <a:ext cx="2560320" cy="64008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2402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2. VAD实战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22402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333333"/>
                </a:solidFill>
                <a:latin typeface="Microsoft YaHei"/>
              </a:defRPr>
            </a:pPr>
            <a:r>
              <a:t>CRNN + 语音/噪声二分类，关注Recall，目标&gt;90%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3108960"/>
            <a:ext cx="2560320" cy="64008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2004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3. 可懂度分类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32004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333333"/>
                </a:solidFill>
                <a:latin typeface="Microsoft YaHei"/>
              </a:defRPr>
            </a:pPr>
            <a:r>
              <a:t>评估语音增强/编码策略效果的客观方法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4069080"/>
            <a:ext cx="2560320" cy="64008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41605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4. 调优技巧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0" y="41605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333333"/>
                </a:solidFill>
                <a:latin typeface="Microsoft YaHei"/>
              </a:defRPr>
            </a:pPr>
            <a:r>
              <a:t>LR搜索、混合精度、梯度累积、早停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5029200"/>
            <a:ext cx="2560320" cy="64008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51206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5. 模块3能力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74720" y="51206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333333"/>
                </a:solidFill>
                <a:latin typeface="Microsoft YaHei"/>
              </a:defRPr>
            </a:pPr>
            <a:r>
              <a:t>能搭建完整的音频分类Pipeline，能评估和优化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54864" cy="13716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2A4A"/>
                </a:solidFill>
                <a:latin typeface="Microsoft YaHei"/>
              </a:defRPr>
            </a:pPr>
            <a:r>
              <a:t>课后练习 + 模块3综合任务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0120"/>
            <a:ext cx="10515600" cy="1905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280160"/>
            <a:ext cx="5029200" cy="32004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463040"/>
            <a:ext cx="4572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9"/>
              </a:spcAft>
              <a:defRPr sz="1700" b="0">
                <a:solidFill>
                  <a:srgbClr val="333333"/>
                </a:solidFill>
                <a:latin typeface="Microsoft YaHei"/>
              </a:defRPr>
            </a:pPr>
            <a:r>
              <a:t>✅ 基础（必做）</a:t>
            </a:r>
          </a:p>
          <a:p>
            <a:pPr algn="l">
              <a:spcAft>
                <a:spcPts val="509"/>
              </a:spcAft>
              <a:defRPr sz="1700" b="0">
                <a:solidFill>
                  <a:srgbClr val="333333"/>
                </a:solidFill>
                <a:latin typeface="Microsoft YaHei"/>
              </a:defRPr>
            </a:pPr>
          </a:p>
          <a:p>
            <a:pPr algn="l">
              <a:spcAft>
                <a:spcPts val="509"/>
              </a:spcAft>
              <a:defRPr sz="1700" b="0">
                <a:solidFill>
                  <a:srgbClr val="333333"/>
                </a:solidFill>
                <a:latin typeface="Microsoft YaHei"/>
              </a:defRPr>
            </a:pPr>
            <a:r>
              <a:t>训练VAD模型：</a:t>
            </a:r>
          </a:p>
          <a:p>
            <a:pPr algn="l">
              <a:spcAft>
                <a:spcPts val="509"/>
              </a:spcAft>
              <a:defRPr sz="1700" b="0">
                <a:solidFill>
                  <a:srgbClr val="333333"/>
                </a:solidFill>
                <a:latin typeface="Microsoft YaHei"/>
              </a:defRPr>
            </a:pPr>
            <a:r>
              <a:t>• 使用语音/噪声数据集</a:t>
            </a:r>
          </a:p>
          <a:p>
            <a:pPr algn="l">
              <a:spcAft>
                <a:spcPts val="509"/>
              </a:spcAft>
              <a:defRPr sz="1700" b="0">
                <a:solidFill>
                  <a:srgbClr val="333333"/>
                </a:solidFill>
                <a:latin typeface="Microsoft YaHei"/>
              </a:defRPr>
            </a:pPr>
            <a:r>
              <a:t>• 测试集准确率 &gt; 90%</a:t>
            </a:r>
          </a:p>
          <a:p>
            <a:pPr algn="l">
              <a:spcAft>
                <a:spcPts val="509"/>
              </a:spcAft>
              <a:defRPr sz="1700" b="0">
                <a:solidFill>
                  <a:srgbClr val="333333"/>
                </a:solidFill>
                <a:latin typeface="Microsoft YaHei"/>
              </a:defRPr>
            </a:pPr>
            <a:r>
              <a:t>• 画混淆矩阵分析错误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280160"/>
            <a:ext cx="5029200" cy="3200400"/>
          </a:xfrm>
          <a:prstGeom prst="rect">
            <a:avLst/>
          </a:prstGeom>
          <a:solidFill>
            <a:srgbClr val="FDF2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1463040"/>
            <a:ext cx="4572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9"/>
              </a:spcAft>
              <a:defRPr sz="1700" b="0">
                <a:solidFill>
                  <a:srgbClr val="333333"/>
                </a:solidFill>
                <a:latin typeface="Microsoft YaHei"/>
              </a:defRPr>
            </a:pPr>
            <a:r>
              <a:t>🏆 进阶（选做）</a:t>
            </a:r>
          </a:p>
          <a:p>
            <a:pPr algn="l">
              <a:spcAft>
                <a:spcPts val="509"/>
              </a:spcAft>
              <a:defRPr sz="1700" b="0">
                <a:solidFill>
                  <a:srgbClr val="333333"/>
                </a:solidFill>
                <a:latin typeface="Microsoft YaHei"/>
              </a:defRPr>
            </a:pPr>
          </a:p>
          <a:p>
            <a:pPr algn="l">
              <a:spcAft>
                <a:spcPts val="509"/>
              </a:spcAft>
              <a:defRPr sz="1700" b="0">
                <a:solidFill>
                  <a:srgbClr val="333333"/>
                </a:solidFill>
                <a:latin typeface="Microsoft YaHei"/>
              </a:defRPr>
            </a:pPr>
            <a:r>
              <a:t>CI通道模拟器：</a:t>
            </a:r>
          </a:p>
          <a:p>
            <a:pPr algn="l">
              <a:spcAft>
                <a:spcPts val="509"/>
              </a:spcAft>
              <a:defRPr sz="1700" b="0">
                <a:solidFill>
                  <a:srgbClr val="333333"/>
                </a:solidFill>
                <a:latin typeface="Microsoft YaHei"/>
              </a:defRPr>
            </a:pPr>
            <a:r>
              <a:t>• 将梅尔频带映射到N个电极通道</a:t>
            </a:r>
          </a:p>
          <a:p>
            <a:pPr algn="l">
              <a:spcAft>
                <a:spcPts val="509"/>
              </a:spcAft>
              <a:defRPr sz="1700" b="0">
                <a:solidFill>
                  <a:srgbClr val="333333"/>
                </a:solidFill>
                <a:latin typeface="Microsoft YaHei"/>
              </a:defRPr>
            </a:pPr>
            <a:r>
              <a:t>• 可视化不同通道数对频谱分辨率的影响</a:t>
            </a:r>
          </a:p>
          <a:p>
            <a:pPr algn="l">
              <a:spcAft>
                <a:spcPts val="509"/>
              </a:spcAft>
              <a:defRPr sz="1700" b="0">
                <a:solidFill>
                  <a:srgbClr val="333333"/>
                </a:solidFill>
                <a:latin typeface="Microsoft YaHei"/>
              </a:defRPr>
            </a:pPr>
            <a:r>
              <a:t>• 分析通道数与识别率的关系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4846320"/>
            <a:ext cx="10515600" cy="1645920"/>
          </a:xfrm>
          <a:prstGeom prst="rect">
            <a:avLst/>
          </a:prstGeom>
          <a:solidFill>
            <a:srgbClr val="F3E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93776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40"/>
              </a:spcAft>
              <a:defRPr sz="1800" b="1">
                <a:solidFill>
                  <a:srgbClr val="333333"/>
                </a:solidFill>
                <a:latin typeface="Microsoft YaHei"/>
              </a:defRPr>
            </a:pPr>
            <a:r>
              <a:t>📌 下一模块预告：模块4 DeepACE模型解析 — ACE策略、电极映射、GET声码器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Microsoft YaHei"/>
              </a:defRPr>
            </a:pPr>
            <a:r>
              <a:t>谢谢！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AABBDD"/>
                </a:solidFill>
                <a:latin typeface="Microsoft YaHei"/>
              </a:defRPr>
            </a:pPr>
            <a:r>
              <a:t>完成模块3综合任务后，我们进入模块4！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