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0"/>
            <a:ext cx="27432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8AADD"/>
                </a:solidFill>
                <a:latin typeface="Microsoft YaHei"/>
              </a:defRPr>
            </a:pPr>
            <a:r>
              <a:t>模块2 · 第2次课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CNN与声音的"图像化"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99BB"/>
                </a:solidFill>
                <a:latin typeface="Microsoft YaHei"/>
              </a:defRPr>
            </a:pPr>
            <a:r>
              <a:t>CI/助听器实验室 · 开发技能培训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7799"/>
                </a:solidFill>
                <a:latin typeface="Microsoft YaHei"/>
              </a:defRPr>
            </a:pPr>
            <a:r>
              <a:t>时长 2.5h  |  编程能力：能修改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• 理解音频基础：采样率、频谱、语谱图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• 理解语谱图为什么是"图像"→ CNN可以处理声音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• 掌握CNN核心概念：卷积、池化、步长、填充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• 用PyTorch搭建CNN并训练语音/噪声分类器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• 主线项目第一阶段：CNN分类准确率 &gt; 85%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§1 音频基础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采样率、频谱、语谱图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音频基础概念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2286000" cy="685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8988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采样率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325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每秒采样次数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645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语音16kHz，音乐44.1kHz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40280"/>
            <a:ext cx="2286000" cy="685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500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频谱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286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信号各频率成分的强度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606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FFT计算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00400"/>
            <a:ext cx="2286000" cy="685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101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语谱图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46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频率随时间的变化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566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横轴时间、纵轴频率、颜色=能量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160520"/>
            <a:ext cx="2286000" cy="685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27024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梅尔刻度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206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模拟人耳频率感知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526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低频高分辨率、高频低分辨率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120640"/>
            <a:ext cx="2286000" cy="685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2303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梅尔语谱图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66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用梅尔滤波器组的语谱图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486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音频深度学习最常用特征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1371600"/>
            <a:ext cx="4389120" cy="41148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155448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🔑 特征提取链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原始波形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↓ FFT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频谱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↓ 分帧 + 窗函数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语谱图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↓ 梅尔滤波器组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梅尔语谱图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↓ DCT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MFCC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语谱图就是"图像"！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0515600" cy="1371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  <a:defRPr sz="1900" b="1">
                <a:solidFill>
                  <a:srgbClr val="333333"/>
                </a:solidFill>
                <a:latin typeface="Microsoft YaHei"/>
              </a:defRPr>
            </a:pPr>
            <a:r>
              <a:t>本节课最重要的洞察：</a:t>
            </a:r>
          </a:p>
          <a:p>
            <a:pPr algn="l">
              <a:spcAft>
                <a:spcPts val="570"/>
              </a:spcAft>
              <a:defRPr sz="1900" b="1">
                <a:solidFill>
                  <a:srgbClr val="333333"/>
                </a:solidFill>
                <a:latin typeface="Microsoft YaHei"/>
              </a:defRPr>
            </a:pPr>
            <a:r>
              <a:t>语谱图 = 横轴时间 + 纵轴频率 + 颜色=能量 → 就是一张2D图像！</a:t>
            </a:r>
          </a:p>
          <a:p>
            <a:pPr algn="l">
              <a:spcAft>
                <a:spcPts val="570"/>
              </a:spcAft>
              <a:defRPr sz="1900" b="1">
                <a:solidFill>
                  <a:srgbClr val="333333"/>
                </a:solidFill>
                <a:latin typeface="Microsoft YaHei"/>
              </a:defRPr>
            </a:pPr>
            <a:r>
              <a:t>CNN天生擅长处理2D图像的模式识别 → 所以CNN可以处理音频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926080"/>
            <a:ext cx="5486400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import torchaudio.transforms as T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提取梅尔语谱图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mel_transform = T.MelSpectrogram(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sample_rate=16000,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n_fft=512,        # FFT窗口大小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hop_length=256,   # 帧移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n_mels=64,        # 梅尔滤波器数量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波形 → 语谱图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waveform, sr = torchaudio.load('audio.wav')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mel_spec = mel_transform(waveform)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转为对数刻度（dB）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log_mel_spec = T.AmplitudeToDB()(mel_spec)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print(f'波形形状: {waveform.shape}')   # [1, 16000]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print(f'语谱图形状: {log_mel_spec.shape}')  # [1, 64, 63]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2926080"/>
            <a:ext cx="4754880" cy="3200400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0896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💡 为什么是梅尔语谱图？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人耳对低频更敏感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梅尔刻度模拟人耳感知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低频分辨率高、高频分辨率低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和CI的电极映射对应：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低频→更多的电极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高频→更少的电极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§2 CNN核心概念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卷积、池化、步长、填充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卷积(Convolution)——模式检测器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卷积核（Kernel/Filter）是一个小窗口，在输入上滑动，提取局部模式。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类比：用放大镜扫描图片，每次只看一小块区域。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不同的卷积核检测不同的模式（边缘、纹理、形状）。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74720"/>
            <a:ext cx="54864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PyTorch中的卷积层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import torch.nn as nn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2D卷积（用于语谱图/图像）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conv = nn.Conv2d(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in_channels=1,    # 输入通道数（灰度=1）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out_channels=16,  # 输出通道数（=卷积核数量）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kernel_size=3,    # 卷积核大小 3x3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stride=1,         # 步长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padding=1,        # 填充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输入: [batch, channels, height, width]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x = torch.randn(4, 1, 64, 63)  # 4个梅尔语谱图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y = conv(x)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print(y.shape)  # [4, 16, 64, 63]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1371600"/>
            <a:ext cx="4754880" cy="41148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5544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🔑 卷积参数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kernel_size: 卷积核大小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3×3 最常用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越大感受野越大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stride: 步长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1=每次移1像素（默认）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2=每次移2像素→输出缩小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padding: 填充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1=边缘补零→输出大小不变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0=不填充→输出缩小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池化(Pooling)——缩小特征图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池化的作用：降低分辨率、减少参数、提取最重要的特征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Max Pooling：取窗口内的最大值（最显著的特征）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Average Pooling：取窗口内的平均值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54864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最大池化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pool = nn.MaxPool2d(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kernel_size=2,  # 2×2窗口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stride=2,       # 步长2→尺寸减半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x = torch.randn(4, 16, 64, 63)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y = pool(x)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print(y.shape)  # [4, 16, 32, 31] 尺寸减半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音频CNN中：只在频率维度池化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保留时间维度给后续处理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freq_pool = nn.MaxPool2d(kernel_size=(2, 1), stride=(2, 1))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y2 = freq_pool(x)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print(y2.shape)  # [4, 16, 32, 63] 只频率减半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2743200"/>
            <a:ext cx="4754880" cy="2743200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92608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💡 音频CNN的特殊设计</a:t>
            </a:r>
          </a:p>
          <a:p>
            <a:pPr algn="l"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图像CNN：时间和频率维度都池化</a:t>
            </a:r>
          </a:p>
          <a:p>
            <a:pPr algn="l"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音频CNN：通常只在频率维度池化！</a:t>
            </a:r>
          </a:p>
          <a:p>
            <a:pPr algn="l"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原因：保留时间维度信息给后续</a:t>
            </a:r>
          </a:p>
          <a:p>
            <a:pPr algn="l"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时序信息对音频很重要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CNN分类器架构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943600" cy="5029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class SimpleCNN(nn.Module):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def __init__(self, num_classes=2):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super().__init__()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self.features = nn.Sequential(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    # 卷积块1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    nn.Conv2d(1, 16, 3, padding=1),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    nn.ReLU(),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    nn.MaxPool2d((2, 1)),   # 频率减半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    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    # 卷积块2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    nn.Conv2d(16, 32, 3, padding=1),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    nn.ReLU(),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    nn.MaxPool2d((2, 1)),   # 频率再减半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self.classifier = nn.Sequential(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    nn.Flatten(),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    nn.Linear(32 * 16 * 63, 64),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    nn.ReLU(),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    nn.Linear(64, num_classes),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def forward(self, x):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x = self.features(x)   # 提取特征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x = self.classifier(x) # 分类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return x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371600"/>
            <a:ext cx="4389120" cy="4572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55448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🔑 CNN结构</a:t>
            </a:r>
          </a:p>
          <a:p>
            <a:pPr algn="l"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输入: 梅尔语谱图</a:t>
            </a:r>
          </a:p>
          <a:p>
            <a:pPr algn="l"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[batch, 1, n_mels, time]</a:t>
            </a:r>
          </a:p>
          <a:p>
            <a:pPr algn="l"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Conv块1: 1→16通道</a:t>
            </a:r>
          </a:p>
          <a:p>
            <a:pPr algn="l"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+ ReLU + 频率池化</a:t>
            </a:r>
          </a:p>
          <a:p>
            <a:pPr algn="l"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输出: [batch, 16, n_mels/2, time]</a:t>
            </a:r>
          </a:p>
          <a:p>
            <a:pPr algn="l"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Conv块2: 16→32通道</a:t>
            </a:r>
          </a:p>
          <a:p>
            <a:pPr algn="l"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+ ReLU + 频率池化</a:t>
            </a:r>
          </a:p>
          <a:p>
            <a:pPr algn="l"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输出: [batch, 32, n_mels/4, time]</a:t>
            </a:r>
          </a:p>
          <a:p>
            <a:pPr algn="l"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Flatten + FC: 分类</a:t>
            </a:r>
          </a:p>
          <a:p>
            <a:pPr algn="l"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32*16*63 → 64 → num_classes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§3 训练语音/噪声分类器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主线项目第一阶段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训练CNN分类器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149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完整训练流程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model = SimpleCNN(num_classes=2).cuda()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criterion = nn.CrossEntropyLoss()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optimizer = torch.optim.Adam(model.parameters(), lr=0.001)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数据加载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train_loader = DataLoader(train_dataset, batch_size=32, shuffle=True)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val_loader = DataLoader(val_dataset, batch_size=32)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for epoch in range(20):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model.train()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for batch_x, batch_y in train_loader: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batch_x, batch_y = batch_x.cuda(), batch_y.cuda()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y_pred = model(batch_x)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loss = criterion(y_pred, batch_y)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optimizer.zero_grad()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loss.backward()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optimizer.step()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# 验证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model.eval()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correct = 0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total = 0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with torch.no_grad():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for batch_x, batch_y in val_loader: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    batch_x, batch_y = batch_x.cuda(), batch_y.cuda()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    y_pred = model(batch_x)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    correct += (y_pred.argmax(1) == batch_y).sum().item()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    total += batch_y.size(0)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acc = correct / total * 100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print(f'Epoch {epoch+1}: Val Accuracy = {acc:.1f}%')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本节要点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74320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1. 语谱图=图像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463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横轴时间+纵轴频率+颜色=能量 → CNN可以处理声音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274320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2. CNN卷积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23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小窗口滑动提取局部模式，不同核检测不同特征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91840"/>
            <a:ext cx="274320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3. 池化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383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降低分辨率、减少参数；音频CNN通常只在频率维度池化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251960"/>
            <a:ext cx="274320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4. 梅尔语谱图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343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模拟人耳感知，低频高分辨率，音频DL最常用特征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212080"/>
            <a:ext cx="274320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5. 训练CNN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303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nn.Conv2d + ReLU + MaxPool2d + Flatten + Linear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课后练习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7D32"/>
                </a:solidFill>
                <a:latin typeface="Microsoft YaHei"/>
              </a:defRPr>
            </a:pPr>
            <a:r>
              <a:t>基础（必做）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训练语音/噪声CNN分类器：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1. 使用SpeechNoiseDataset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2. 至少2层卷积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3. 训练至少20个epoch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4. 验证集准确率 &gt; 85%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5. 画训练loss和验证accuracy曲线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6C00"/>
                </a:solidFill>
                <a:latin typeface="Microsoft YaHei"/>
              </a:defRPr>
            </a:pPr>
            <a:r>
              <a:t>进阶（选做）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1. 模型变体对比：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 加深、加宽、加ResNet连接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 在TensorBoard中对比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2. 语谱图参数实验：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 n_mels: 32, 64, 128, 256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 n_fft: 256, 512, 1024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 记录准确率和训练速度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486400"/>
            <a:ext cx="10515600" cy="9144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577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📌 下次课预告：训练技巧与实验方法论 — 过拟合/欠拟合、学习率、数据增强、TensorBoard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BBDD"/>
                </a:solidFill>
                <a:latin typeface="Microsoft YaHei"/>
              </a:defRPr>
            </a:pPr>
            <a:r>
              <a:t>课后完成CNN训练练习，争取准确率 &gt; 85%。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