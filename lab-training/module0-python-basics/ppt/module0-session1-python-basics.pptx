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27432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8AADD"/>
                </a:solidFill>
                <a:latin typeface="Microsoft YaHei"/>
              </a:defRPr>
            </a:pPr>
            <a:r>
              <a:t>模块0 · 第1次课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Python基础——从计算器到程序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899BB"/>
                </a:solidFill>
                <a:latin typeface="Microsoft YaHei"/>
              </a:defRPr>
            </a:pPr>
            <a:r>
              <a:t>CI/助听器实验室 · 开发技能培训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7799"/>
                </a:solidFill>
                <a:latin typeface="Microsoft YaHei"/>
              </a:defRPr>
            </a:pPr>
            <a:r>
              <a:t>时长 2.5h  |  编程能力：能读懂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理解Python从"计算器式脚本"到"程序化思维"的转变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掌握变量、数据类型、运算的基本用法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用NumPy生成和操作数组，理解向量化思维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掌握控制流（if / for / while）的基本用法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重点：理解为什么要写函数——从"复制粘贴"到"函数调用"</a:t>
            </a:r>
          </a:p>
          <a:p>
            <a:pPr>
              <a:spcAft>
                <a:spcPts val="800"/>
              </a:spcAft>
              <a:defRPr sz="2200">
                <a:solidFill>
                  <a:srgbClr val="333333"/>
                </a:solidFill>
                <a:latin typeface="Microsoft YaHei"/>
              </a:defRPr>
            </a:pPr>
            <a:r>
              <a:t>• 掌握列表和字典的基本操作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371600"/>
            <a:ext cx="347472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💡 本节约定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所有练习使用音频信号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不用斐波那契——用正弦波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不用成绩单——用音频元数据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Python环境确认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t>确认你的环境是否就绪：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2560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import sys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print(f'Python版本: {sys.version}')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import scipy.signal as signal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print('所有库导入成功！')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📋 环境检查清单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☐ Python 3.10+ 已安装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☐ numpy 已安装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☐ matplotlib 已安装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☐ scipy 已安装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☐ Jupyter Lab 可以启动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如果某项未通过，请举手。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§1 变量、数据类型与运算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Python的基本构建块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变量——存储数据的容器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02920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音频基本参数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sample_rate = 16000       # 采样率 (Hz)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duration = 1.0            # 时长 (秒)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frequency = 440.0         # 频率 (Hz) — A4音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amplitude = 0.5           # 振幅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print(f'采样率: {sample_rate} Hz')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print(f'频率: {frequency} Hz (A4音)')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🔑 要点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变量名要有意义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✓ sample_rate    ✗ sr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✓ frequency      ✗ f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✓ amplitude      ✗ a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用注释解释"为什么"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选择有物理含义的变量名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数据类型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371600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整数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nsolas"/>
              </a:defRPr>
            </a:pPr>
            <a:r>
              <a:t>sample_rate = 16000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onsolas"/>
              </a:defRPr>
            </a:pPr>
            <a:r>
              <a:t># 采样率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1371600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float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浮点数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nsolas"/>
              </a:defRPr>
            </a:pPr>
            <a:r>
              <a:t>frequency = 440.0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onsolas"/>
              </a:defRPr>
            </a:pPr>
            <a:r>
              <a:t># 频率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1371600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str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字符串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nsolas"/>
              </a:defRPr>
            </a:pPr>
            <a:r>
              <a:t>filename = "speech.wav"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onsolas"/>
              </a:defRPr>
            </a:pPr>
            <a:r>
              <a:t># 文件名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663439"/>
            <a:ext cx="1371600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0059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bool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709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布尔值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7091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onsolas"/>
              </a:defRPr>
            </a:pPr>
            <a:r>
              <a:t>is_speech = True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709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onsolas"/>
              </a:defRPr>
            </a:pPr>
            <a:r>
              <a:t># 是否语音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406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print(type(sample_rate))   # &lt;class 'int'&gt;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print(type(frequency))     # &lt;class 'float'&gt;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print(type(filename))      # &lt;class 'str'&gt;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print(type(is_speech))     # &lt;class 'bool'&gt;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运算——音频处理中的常见计算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48640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计算总样本数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num_samples = int(sample_rate * duration)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print(f'总样本数: {num_samples}')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计算每个周期的样本数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samples_per_cycle = sample_rate / frequency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print(f'每个周期的样本数: {samples_per_cycle:.2f}')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分贝转换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import math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db = 20 * math.log10(amplitude)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print(f'振幅 {amplitude} 对应 {db:.1f} dB')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4754880" cy="36576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📐 公式对照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总样本数 = 采样率 × 时长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周期样本数 = fs / f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dB = 20 · log₁₀(A)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Python代码几乎就是数学公式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加一个 = 号就够了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§2 NumPy数组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从标量到向量——向量化思维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NumPy——音频处理的核心工具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t>关键概念：音频信号 = 一组数字（数组），NumPy让我们像写数学公式一样操作整个数组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30352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生成时间轴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t = np.linspace(0, duration, num_samples, endpoint=False)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生成正弦波：纯音 A4 = 440 Hz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sine_wave = amplitude * np.sin(2 * np.pi * frequency * t)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print(f'波形长度: {len(sine_wave)}')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2011680"/>
            <a:ext cx="484632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19456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🧠 向量化思维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标量运算（逐元素循环）：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for i in range(N):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    y[i] = a * sin(2π·f·t[i])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向量化运算（NumPy）：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y = a * np.sin(2π·f·t)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一行代码 = 一个公式，不需要循环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可视化正弦波：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plt.figure(figsize=(12, 4))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plt.plot(t[:500], sine_wave[:500])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plt.xlabel('Time (s)'); plt.ylabel('Amplitude')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plt.title(f'Sine Wave: {frequency} Hz'); plt.grid(True); plt.show()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练习1：向量化运算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任务：生成C4(261.63Hz)和E4(329.63Hz)的正弦波，将它们相加，画出复合波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freq_C4 = 261.63   # C4音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freq_E4 = 329.63   # E4音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TODO: 生成C4和E4的正弦波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wave_C4 = amplitude * np.sin(2 * np.pi * freq_C4 * t)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wave_E4 = amplitude * np.sin(2 * np.pi * freq_E4 * t)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TODO: 将两个波相加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composite = wave_C4 + wave_E4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可视化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plt.figure(figsize=(12, 4))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plt.plot(t[:500], composite[:500])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plt.title('Composite Wave (C4 + E4)'); plt.show()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§3 控制流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if 条件判断 / for 循环 / while 循环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if 条件判断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943600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5577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def classify_frequency(freq):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if freq &lt; 300: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return '低频 (Bass)'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elif freq &lt; 1000: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return '中频 (Mid)'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elif freq &lt; 4000: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return '中高频 (Upper Mid)'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    return '高频 (Treble)'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测试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for f in [100, 440, 2000, 8000]: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print(f'{f} Hz → {classify_frequency(f)}')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89120" cy="3657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55448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输出结果：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100 Hz → 低频 (Bass)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440 Hz → 中频 (Mid)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2000 Hz → 中高频 (Upper Mid)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8000 Hz → 高频 (Treble)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if / elif / else 是最基本的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条件判断结构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for 循环 与 while 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Microsoft YaHei"/>
              </a:defRPr>
            </a:pPr>
            <a:r>
              <a:t>for 循环：批量处理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批量生成不同频率的正弦波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frequencies = [261.63, 293.66, 329.63, 392.00, 440.00]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note_names = ['C4', 'D4', 'E4', 'G4', 'A4']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waves = {}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for freq, name in zip(frequencies, note_names):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wave = amplitude * np.sin(2*np.pi*freq*t)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waves[name] = wave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  <a:latin typeface="Microsoft YaHei"/>
              </a:defRPr>
            </a:pPr>
            <a:r>
              <a:t>while 循环：条件循环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828800"/>
            <a:ext cx="50292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找到波形中第一个过零点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i = 0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while sine_wave[i] &gt; 0 and i &lt; len(sine_wave) - 1: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i += 1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zero_crossing_time = t[i]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print(f'第一个过零点: t={zero_crossing_time:.6f}s')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💡 什么时候用 for，什么时候用 while？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for → 已知循环次数（遍历列表、批量处理文件）    while → 不知道要循环几次（找到满足条件为止）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§4 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本节课最重要的部分——从"复制粘贴"到"函数调用"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坏习惯：复制粘贴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生成3个不同频率的正弦波并画图——最直观的做法是复制粘贴代码...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生成 440 Hz 的正弦波并画图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wave_440 = 0.5 * np.sin(2 * np.pi * 440 * 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plt.figure(figsize=(10, 3))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plt.plot(t[:500], wave_440[:500])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plt.title('440 Hz Sine Wave'); plt.xlabel('Time (s)'); plt.grid(True); plt.show()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生成 261 Hz 的正弦波并画图（复制上面的代码，改数字）   ← 复制！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wave_261 = 0.5 * np.sin(2 * np.pi * 261 * 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plt.figure(figsize=(10, 3))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plt.plot(t[:500], wave_261[:500])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plt.title('261 Hz Sine Wave'); plt.xlabel('Time (s)'); plt.grid(True); plt.show()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生成 880 Hz 的正弦波并画图（再复制一次...）           ← 又复制！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wave_880 = 0.5 * np.sin(2 * np.pi * 880 * 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828800"/>
            <a:ext cx="3200400" cy="640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Microsoft YaHei"/>
              </a:defRPr>
            </a:pPr>
            <a:r>
              <a:t>❌ ~24行代码，改一处要改3遍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好习惯：封装成函数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6400800" cy="4389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def plot_sine_wave(freq, amp=0.5, sr=16000, dur=1.0):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"""生成正弦波并画图"""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t = np.linspace(0, dur, int(sr*dur), endpoint=False)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wave = amp * np.sin(2 * np.pi * freq * t)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plt.figure(figsize=(10, 3))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plt.plot(t[:500], wave[:500])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plt.title(f'{freq} Hz Sine Wave')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plt.grid(True); plt.show()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return wave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# 现在只需要一行代码！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wave_440 = plot_sine_wave(440)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wave_261 = plot_sine_wave(261)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wave_880 = plot_sine_wave(880)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280160"/>
            <a:ext cx="4023360" cy="2286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✅ 对比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复制粘贴：~24行，改3处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函数封装：~3行调用，改1处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函数不只"打包代码"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函数把思路分块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931920"/>
            <a:ext cx="402336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🔑 函数三要素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1. 函数名 → 做什么事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2. 参数 → 需要什么输入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3. 返回值 → 输出什么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函数的参数和返回值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9436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def generate_sine_wave(freq, amp=0.5, sr=16000, dur=1.0):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"""生成正弦波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参数: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freq: 频率 (Hz)     ← 必选参数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amp: 振幅            ← 默认参数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sr: 采样率           ← 默认参数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dur: 时长            ← 默认参数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返回: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t: 时间轴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wave: 波形数据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t = np.linspace(0, dur, int(sr*dur), endpoint=False)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wave = amp * np.sin(2 * np.pi * freq * t)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return t, wave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371600"/>
            <a:ext cx="4389120" cy="4114800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5544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📝 docstring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三引号包围的函数说明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解释参数、返回值、功能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🔧 参数类型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必选参数：调用时必须提供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默认参数：有默认值，可不填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📦 返回值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return 语句返回结果</a:t>
            </a:r>
          </a:p>
          <a:p>
            <a:pPr algn="l"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可以返回多个值（元组）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练习2：写一个函数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任务：写一个函数 generate_composite_wave(freqs, amps)，将多个正弦波叠加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51560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def generate_composite_wave(freqs, amps, sr=16000, dur=1.0):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"""生成复合波（多个正弦波叠加）"""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t = np.linspace(0, dur, int(sr*dur), endpoint=False)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composite = np.zeros_like(t)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for freq, amp in zip(freqs, amps):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    wave = amp * np.sin(2 * np.pi * freq * t)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    composite += wave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return t, composite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测试：C大三和弦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freqs = [261.63, 329.63, 392.00]  # C4, E4, G4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t, chord = generate_composite_wave(freqs, [0.5, 0.5, 0.5])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§5 列表与字典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组织和管理数据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列表——有序的数据集合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0292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常见的音频采样率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common_sample_rates = [8000, 16000, 22050, 44100, 48000]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print(f'CD音质: {common_sample_rates[3]} Hz')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print(f'电话音质: {common_sample_rates[0]} Hz')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列表操作速查：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访问元素:  lst[0], lst[-1]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切片:     lst[1:3]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追加:     lst.append(item)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长度:     len(lst)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遍历:     for item in lst: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打包:     zip(list1, list2)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字典——键值对的集合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0292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用字典存储wav文件的信息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audio_info = {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'filename': 'speech.wav',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'sample_rate': 16000,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'duration': 3.5,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'num_channels': 1,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'is_speech': True,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计算并更新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audio_info['num_samples'] = audio_info['sample_rate'] * audio_info['duration']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遍历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for key, value in audio_info.items():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print(f'  {key}: {value}')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🔑 字典 vs 列表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列表：按位置索引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lst[0], lst[1], lst[2]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字典：按名字索引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  d["sample_rate"], d["duration"]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音频元数据 → 用字典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音频波形数据 → 用NumPy数组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练习3：用字典管理多个音频文件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任务：创建字典管理多个音频文件，遍历并打印每个文件的总样本数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0320"/>
            <a:ext cx="105156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audio_files = {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'speech_clean.wav': {'sample_rate': 16000, 'duration': 3.5, 'is_speech': True},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'speech_noisy.wav': {'sample_rate': 16000, 'duration': 5.0, 'is_speech': True},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'noise_white.wav':  {'sample_rate': 44100, 'duration': 10.0, 'is_speech': False},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# TODO: 用 for 循环遍历，打印每个文件的总样本数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for filename, info in audio_files.items():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num_samples = int(info['sample_rate'] * info['duration'])</a:t>
            </a:r>
          </a:p>
          <a:p>
            <a:pPr>
              <a:spcAft>
                <a:spcPts val="200"/>
              </a:spcAft>
              <a:defRPr sz="1600">
                <a:solidFill>
                  <a:srgbClr val="333333"/>
                </a:solidFill>
                <a:latin typeface="Consolas"/>
              </a:defRPr>
            </a:pPr>
            <a:r>
              <a:t>    print(f"{filename}: {num_samples} 样本, 语音={info['is_speech']}")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743200"/>
            <a:ext cx="1828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§6 综合练习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ABBDD"/>
                </a:solidFill>
                <a:latin typeface="Microsoft YaHei"/>
              </a:defRPr>
            </a:pPr>
            <a:r>
              <a:t>独立完成——不参考上面的代码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综合练习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任务：写一个函数 generate_sine_wave(freq, duration, sample_rate, amplitude)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  1. 生成指定频率和时长的正弦波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  2. 返回时间轴 t 和波形数据 wave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  3. 画出波形的前500个样本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0515600" cy="36576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def generate_sine_wave(freq, duration, sample_rate, amplitude):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"""生成正弦波"""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# TODO: 生成时间轴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t = np.linspace(0, duration, int(sample_rate * duration), endpoint=False)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# TODO: 生成正弦波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wave = amplitude * np.sin(2 * np.pi * freq * t)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# TODO: 画图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plt.figure(figsize=(12, 4))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plt.plot(t[:500], wave[:500])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plt.title(f'{freq} Hz Sine Wave, Amplitude: {amplitude}')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plt.grid(True); plt.show()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    return t, wave</a:t>
            </a: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t, wave = generate_sine_wave(440, 0.5, 16000, 0.5)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8288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1. 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存储数据，选择有意义的变量名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18288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2. NumPy数组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音频处理的核心数据结构，学会向量化思维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18288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3. 控制流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if/for/while 用于条件判断和批量处理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89120"/>
            <a:ext cx="18288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4. 函数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最重要的概念——从"复制粘贴"到"函数调用"，函数把思路分块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394960"/>
            <a:ext cx="182880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5. 列表和字典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Microsoft YaHei"/>
              </a:defRPr>
            </a:pPr>
            <a:r>
              <a:t>用于组织和管理数据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54864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2A4A"/>
                </a:solidFill>
                <a:latin typeface="Microsoft YaHei"/>
              </a:defRPr>
            </a:pPr>
            <a:r>
              <a:t>课后练习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60120"/>
            <a:ext cx="10515600" cy="1905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Microsoft YaHei"/>
              </a:defRPr>
            </a:pPr>
            <a:r>
              <a:t>基础（必做）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完成一个音频工具函数库 signal_utils.py：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generate_sine_wave() — 生成正弦波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generate_composite_wave() — 生成复合波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plot_waveform() — 画波形图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验收标准：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能生成440Hz正弦波并画图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能生成C大三和弦(C4+E4+G4)并画图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代码提交到Git仓库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C00"/>
                </a:solidFill>
                <a:latin typeface="Microsoft YaHei"/>
              </a:defRPr>
            </a:pPr>
            <a:r>
              <a:t>进阶（选做）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写一个函数 generate_chord()：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输入根音(如 "C4")和和弦类型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输出对应的和弦波形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参考频率：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C4=261.63, D4=293.66, E4=329.63</a:t>
            </a:r>
          </a:p>
          <a:p>
            <a:pPr algn="l">
              <a:spcAft>
                <a:spcPts val="509"/>
              </a:spcAft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F4=349.23, G4=392.00, A4=440.00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📌 下次课预告：面向对象与代码组织 — 类(class)、继承、nn.Module、Dataset</a:t>
            </a:r>
          </a:p>
          <a:p>
            <a:pPr algn="l">
              <a:spcAft>
                <a:spcPts val="540"/>
              </a:spcAft>
              <a:defRPr sz="1800" b="1">
                <a:solidFill>
                  <a:srgbClr val="333333"/>
                </a:solidFill>
                <a:latin typeface="Microsoft YaHei"/>
              </a:defRPr>
            </a:pPr>
            <a:r>
              <a:t>预习材料：预习-第2次课.md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BBDD"/>
                </a:solidFill>
                <a:latin typeface="Microsoft YaHei"/>
              </a:defRPr>
            </a:pPr>
            <a:r>
              <a:t>课后请完成练习，下次课见。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